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6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003"/>
    <p:restoredTop sz="94694"/>
  </p:normalViewPr>
  <p:slideViewPr>
    <p:cSldViewPr snapToGrid="0" snapToObjects="1">
      <p:cViewPr varScale="1">
        <p:scale>
          <a:sx n="121" d="100"/>
          <a:sy n="121" d="100"/>
        </p:scale>
        <p:origin x="74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ov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240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023360" y="2560320"/>
            <a:ext cx="4114800" cy="254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35C4C0"/>
                </a:solidFill>
              </a:defRPr>
            </a:pPr>
            <a:r>
              <a:t>PATENTRADAR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51760"/>
            <a:ext cx="1069848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</a:defRPr>
            </a:pPr>
            <a:r>
              <a:rPr dirty="0" err="1"/>
              <a:t>本地部署指南</a:t>
            </a: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4112912" y="3931920"/>
            <a:ext cx="3935693" cy="3847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>
                <a:solidFill>
                  <a:srgbClr val="D5DDEA"/>
                </a:solidFill>
              </a:defRPr>
            </a:pPr>
            <a:r>
              <a:rPr dirty="0" err="1"/>
              <a:t>完整部署步骤</a:t>
            </a:r>
            <a:r>
              <a:rPr dirty="0"/>
              <a:t> · </a:t>
            </a:r>
            <a:r>
              <a:rPr dirty="0" err="1"/>
              <a:t>环境配置</a:t>
            </a:r>
            <a:r>
              <a:rPr dirty="0"/>
              <a:t> · </a:t>
            </a:r>
            <a:r>
              <a:rPr dirty="0" err="1"/>
              <a:t>踩坑解决</a:t>
            </a:r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914400" y="576072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B8C4D8"/>
                </a:solidFill>
              </a:defRPr>
            </a:pPr>
            <a:r>
              <a:t>Python 3.14 · uv · FastAPI · DeepSeek/OpenAI 兼容 · Web Dashboard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ountai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240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457200"/>
            <a:ext cx="76200" cy="64008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365760"/>
            <a:ext cx="10058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项目简介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457200"/>
            <a:ext cx="914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200" b="1">
                <a:solidFill>
                  <a:srgbClr val="D4AF37"/>
                </a:solidFill>
              </a:defRPr>
            </a:pPr>
            <a:r>
              <a:t>01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17320"/>
            <a:ext cx="5394960" cy="2286000"/>
          </a:xfrm>
          <a:prstGeom prst="roundRect">
            <a:avLst>
              <a:gd name="adj" fmla="val 6000"/>
            </a:avLst>
          </a:prstGeom>
          <a:solidFill>
            <a:srgbClr val="162C4E">
              <a:alpha val="90000"/>
            </a:srgbClr>
          </a:solidFill>
          <a:ln w="12700">
            <a:solidFill>
              <a:srgbClr val="2A44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74320" rIns="164592" rtlCol="0" anchor="ctr"/>
          <a:lstStyle/>
          <a:p>
            <a:pPr algn="ctr">
              <a:defRPr sz="1400" b="1">
                <a:solidFill>
                  <a:srgbClr val="F2D57E"/>
                </a:solidFill>
              </a:defRPr>
            </a:pPr>
            <a:r>
              <a:t>是什么</a:t>
            </a:r>
          </a:p>
          <a:p>
            <a:pPr>
              <a:spcBef>
                <a:spcPts val="250"/>
              </a:spcBef>
              <a:defRPr sz="1200">
                <a:solidFill>
                  <a:srgbClr val="D5DDEA"/>
                </a:solidFill>
              </a:defRPr>
            </a:pPr>
            <a:r>
              <a:t>输入专利公开号 → 输出竞品侵权分析报告</a:t>
            </a:r>
          </a:p>
          <a:p>
            <a:pPr>
              <a:spcBef>
                <a:spcPts val="250"/>
              </a:spcBef>
              <a:defRPr sz="1200">
                <a:solidFill>
                  <a:srgbClr val="D5DDEA"/>
                </a:solidFill>
              </a:defRPr>
            </a:pPr>
            <a:r>
              <a:t>逐项技术特征对比表 + 可点击证据 URL</a:t>
            </a:r>
          </a:p>
          <a:p>
            <a:pPr>
              <a:spcBef>
                <a:spcPts val="250"/>
              </a:spcBef>
              <a:defRPr sz="1200">
                <a:solidFill>
                  <a:srgbClr val="D5DDEA"/>
                </a:solidFill>
              </a:defRPr>
            </a:pPr>
            <a:r>
              <a:t>4 模块流水线：拆解→搜索→对比→报告</a:t>
            </a:r>
          </a:p>
          <a:p>
            <a:pPr>
              <a:spcBef>
                <a:spcPts val="250"/>
              </a:spcBef>
              <a:defRPr sz="1200">
                <a:solidFill>
                  <a:srgbClr val="D5DDEA"/>
                </a:solidFill>
              </a:defRPr>
            </a:pPr>
            <a:r>
              <a:t>产物: report.md + report.pdf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1600200"/>
            <a:ext cx="411480" cy="508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394960" cy="2286000"/>
          </a:xfrm>
          <a:prstGeom prst="roundRect">
            <a:avLst>
              <a:gd name="adj" fmla="val 6000"/>
            </a:avLst>
          </a:prstGeom>
          <a:solidFill>
            <a:srgbClr val="162C4E">
              <a:alpha val="90000"/>
            </a:srgbClr>
          </a:solidFill>
          <a:ln w="12700">
            <a:solidFill>
              <a:srgbClr val="2A44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74320" rIns="164592" rtlCol="0" anchor="ctr"/>
          <a:lstStyle/>
          <a:p>
            <a:pPr algn="ctr">
              <a:defRPr sz="1400" b="1">
                <a:solidFill>
                  <a:srgbClr val="F2D57E"/>
                </a:solidFill>
              </a:defRPr>
            </a:pPr>
            <a:r>
              <a:t>技术栈</a:t>
            </a:r>
          </a:p>
          <a:p>
            <a:pPr>
              <a:spcBef>
                <a:spcPts val="250"/>
              </a:spcBef>
              <a:defRPr sz="1200">
                <a:solidFill>
                  <a:srgbClr val="D5DDEA"/>
                </a:solidFill>
              </a:defRPr>
            </a:pPr>
            <a:r>
              <a:t>Python 3.14 · uv 包管理（uv.lock）</a:t>
            </a:r>
          </a:p>
          <a:p>
            <a:pPr>
              <a:spcBef>
                <a:spcPts val="250"/>
              </a:spcBef>
              <a:defRPr sz="1200">
                <a:solidFill>
                  <a:srgbClr val="D5DDEA"/>
                </a:solidFill>
              </a:defRPr>
            </a:pPr>
            <a:r>
              <a:t>FastAPI + SSE（Web Dashboard）</a:t>
            </a:r>
          </a:p>
          <a:p>
            <a:pPr>
              <a:spcBef>
                <a:spcPts val="250"/>
              </a:spcBef>
              <a:defRPr sz="1200">
                <a:solidFill>
                  <a:srgbClr val="D5DDEA"/>
                </a:solidFill>
              </a:defRPr>
            </a:pPr>
            <a:r>
              <a:t>DeepSeek / OpenAI 兼容 / Codex LLM</a:t>
            </a:r>
          </a:p>
          <a:p>
            <a:pPr>
              <a:spcBef>
                <a:spcPts val="250"/>
              </a:spcBef>
              <a:defRPr sz="1200">
                <a:solidFill>
                  <a:srgbClr val="D5DDEA"/>
                </a:solidFill>
              </a:defRPr>
            </a:pPr>
            <a:r>
              <a:t>Tavily / Bocha / Exa / Brave 搜索</a:t>
            </a:r>
          </a:p>
          <a:p>
            <a:pPr>
              <a:spcBef>
                <a:spcPts val="250"/>
              </a:spcBef>
              <a:defRPr sz="1200">
                <a:solidFill>
                  <a:srgbClr val="D5DDEA"/>
                </a:solidFill>
              </a:defRPr>
            </a:pPr>
            <a:r>
              <a:t>WeasyPrint PDF 渲染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37960" y="1600200"/>
            <a:ext cx="411480" cy="508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40080" y="3886200"/>
            <a:ext cx="5394960" cy="2286000"/>
          </a:xfrm>
          <a:prstGeom prst="roundRect">
            <a:avLst>
              <a:gd name="adj" fmla="val 6000"/>
            </a:avLst>
          </a:prstGeom>
          <a:solidFill>
            <a:srgbClr val="162C4E">
              <a:alpha val="90000"/>
            </a:srgbClr>
          </a:solidFill>
          <a:ln w="12700">
            <a:solidFill>
              <a:srgbClr val="2A44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74320" rIns="164592" rtlCol="0" anchor="ctr"/>
          <a:lstStyle/>
          <a:p>
            <a:pPr algn="ctr">
              <a:defRPr sz="1400" b="1">
                <a:solidFill>
                  <a:srgbClr val="F2D57E"/>
                </a:solidFill>
              </a:defRPr>
            </a:pPr>
            <a:r>
              <a:t>架构要点</a:t>
            </a:r>
          </a:p>
          <a:p>
            <a:pPr>
              <a:spcBef>
                <a:spcPts val="250"/>
              </a:spcBef>
              <a:defRPr sz="1200">
                <a:solidFill>
                  <a:srgbClr val="D5DDEA"/>
                </a:solidFill>
              </a:defRPr>
            </a:pPr>
            <a:r>
              <a:t>CLI / Web / Skill 三种入口共用流水线</a:t>
            </a:r>
          </a:p>
          <a:p>
            <a:pPr>
              <a:spcBef>
                <a:spcPts val="250"/>
              </a:spcBef>
              <a:defRPr sz="1200">
                <a:solidFill>
                  <a:srgbClr val="D5DDEA"/>
                </a:solidFill>
              </a:defRPr>
            </a:pPr>
            <a:r>
              <a:t>模块产物 JSON 全程留痕，可单步重跑</a:t>
            </a:r>
          </a:p>
          <a:p>
            <a:pPr>
              <a:spcBef>
                <a:spcPts val="250"/>
              </a:spcBef>
              <a:defRPr sz="1200">
                <a:solidFill>
                  <a:srgbClr val="D5DDEA"/>
                </a:solidFill>
              </a:defRPr>
            </a:pPr>
            <a:r>
              <a:t>日志: logs/&lt;PUB&gt;/ · 产物: data/output/&lt;PUB&gt;/</a:t>
            </a:r>
          </a:p>
          <a:p>
            <a:pPr>
              <a:spcBef>
                <a:spcPts val="250"/>
              </a:spcBef>
              <a:defRPr sz="1200">
                <a:solidFill>
                  <a:srgbClr val="D5DDEA"/>
                </a:solidFill>
              </a:defRPr>
            </a:pPr>
            <a:r>
              <a:t>Web: http://localhost:8000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8680" y="4069080"/>
            <a:ext cx="411480" cy="50800"/>
          </a:xfrm>
          <a:prstGeom prst="rect">
            <a:avLst/>
          </a:prstGeom>
          <a:solidFill>
            <a:srgbClr val="35C4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309360" y="3886200"/>
            <a:ext cx="5394960" cy="2286000"/>
          </a:xfrm>
          <a:prstGeom prst="roundRect">
            <a:avLst>
              <a:gd name="adj" fmla="val 6000"/>
            </a:avLst>
          </a:prstGeom>
          <a:solidFill>
            <a:srgbClr val="162C4E">
              <a:alpha val="90000"/>
            </a:srgbClr>
          </a:solidFill>
          <a:ln w="12700">
            <a:solidFill>
              <a:srgbClr val="2A44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74320" rIns="164592" rtlCol="0" anchor="ctr"/>
          <a:lstStyle/>
          <a:p>
            <a:pPr algn="ctr">
              <a:defRPr sz="1400" b="1">
                <a:solidFill>
                  <a:srgbClr val="F2D57E"/>
                </a:solidFill>
              </a:defRPr>
            </a:pPr>
            <a:r>
              <a:t>本指南涵盖</a:t>
            </a:r>
          </a:p>
          <a:p>
            <a:pPr>
              <a:spcBef>
                <a:spcPts val="250"/>
              </a:spcBef>
              <a:defRPr sz="1200">
                <a:solidFill>
                  <a:srgbClr val="D5DDEA"/>
                </a:solidFill>
              </a:defRPr>
            </a:pPr>
            <a:r>
              <a:t>① 前置条件 ② 部署步骤 ③ .env 配置</a:t>
            </a:r>
          </a:p>
          <a:p>
            <a:pPr>
              <a:spcBef>
                <a:spcPts val="250"/>
              </a:spcBef>
              <a:defRPr sz="1200">
                <a:solidFill>
                  <a:srgbClr val="D5DDEA"/>
                </a:solidFill>
              </a:defRPr>
            </a:pPr>
            <a:r>
              <a:t>④ 启动与验证 ⑤ 踩坑与解决（重点）</a:t>
            </a:r>
          </a:p>
          <a:p>
            <a:pPr>
              <a:spcBef>
                <a:spcPts val="250"/>
              </a:spcBef>
              <a:defRPr sz="1200">
                <a:solidFill>
                  <a:srgbClr val="D5DDEA"/>
                </a:solidFill>
              </a:defRPr>
            </a:pPr>
            <a:r>
              <a:t>面向程序员：每条命令可直接复制运行</a:t>
            </a:r>
          </a:p>
          <a:p>
            <a:pPr>
              <a:spcBef>
                <a:spcPts val="250"/>
              </a:spcBef>
              <a:defRPr sz="1200">
                <a:solidFill>
                  <a:srgbClr val="D5DDEA"/>
                </a:solidFill>
              </a:defRPr>
            </a:pPr>
            <a:r>
              <a:t>提供 Docker 备选方案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37960" y="4069080"/>
            <a:ext cx="411480" cy="50800"/>
          </a:xfrm>
          <a:prstGeom prst="rect">
            <a:avLst/>
          </a:prstGeom>
          <a:solidFill>
            <a:srgbClr val="35C4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AA8C0"/>
                </a:solidFill>
              </a:defRPr>
            </a:pPr>
            <a:r>
              <a:t>PatentRadar 本地部署指南 · 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ores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240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457200"/>
            <a:ext cx="76200" cy="64008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365760"/>
            <a:ext cx="10058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部署前置条件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457200"/>
            <a:ext cx="914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200" b="1">
                <a:solidFill>
                  <a:srgbClr val="D4AF37"/>
                </a:solidFill>
              </a:defRPr>
            </a:pPr>
            <a: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17320"/>
            <a:ext cx="5394960" cy="2331720"/>
          </a:xfrm>
          <a:prstGeom prst="roundRect">
            <a:avLst>
              <a:gd name="adj" fmla="val 6000"/>
            </a:avLst>
          </a:prstGeom>
          <a:solidFill>
            <a:srgbClr val="162C4E">
              <a:alpha val="90000"/>
            </a:srgbClr>
          </a:solidFill>
          <a:ln w="12700">
            <a:solidFill>
              <a:srgbClr val="2A44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74320" rIns="164592" rtlCol="0" anchor="ctr"/>
          <a:lstStyle/>
          <a:p>
            <a:pPr algn="ctr">
              <a:defRPr sz="1400" b="1">
                <a:solidFill>
                  <a:srgbClr val="F2D57E"/>
                </a:solidFill>
              </a:defRPr>
            </a:pPr>
            <a:r>
              <a:t>系统环境</a:t>
            </a:r>
          </a:p>
          <a:p>
            <a:pPr>
              <a:spcBef>
                <a:spcPts val="250"/>
              </a:spcBef>
              <a:defRPr sz="1200">
                <a:solidFill>
                  <a:srgbClr val="D5DDEA"/>
                </a:solidFill>
              </a:defRPr>
            </a:pPr>
            <a:r>
              <a:t>macOS / Linux / Windows（或 Docker）</a:t>
            </a:r>
          </a:p>
          <a:p>
            <a:pPr>
              <a:spcBef>
                <a:spcPts val="250"/>
              </a:spcBef>
              <a:defRPr sz="1200">
                <a:solidFill>
                  <a:srgbClr val="D5DDEA"/>
                </a:solidFill>
              </a:defRPr>
            </a:pPr>
            <a:r>
              <a:t>Python ≥ 3.14（uv 可自动下载）</a:t>
            </a:r>
          </a:p>
          <a:p>
            <a:pPr>
              <a:spcBef>
                <a:spcPts val="250"/>
              </a:spcBef>
              <a:defRPr sz="1200">
                <a:solidFill>
                  <a:srgbClr val="D5DDEA"/>
                </a:solidFill>
              </a:defRPr>
            </a:pPr>
            <a:r>
              <a:t>uv 包管理器（pip install uv）</a:t>
            </a:r>
          </a:p>
          <a:p>
            <a:pPr>
              <a:spcBef>
                <a:spcPts val="250"/>
              </a:spcBef>
              <a:defRPr sz="1200">
                <a:solidFill>
                  <a:srgbClr val="D5DDEA"/>
                </a:solidFill>
              </a:defRPr>
            </a:pPr>
            <a:r>
              <a:t>PDF 渲染系统库（见下）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1600200"/>
            <a:ext cx="411480" cy="508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394960" cy="2331720"/>
          </a:xfrm>
          <a:prstGeom prst="roundRect">
            <a:avLst>
              <a:gd name="adj" fmla="val 6000"/>
            </a:avLst>
          </a:prstGeom>
          <a:solidFill>
            <a:srgbClr val="162C4E">
              <a:alpha val="90000"/>
            </a:srgbClr>
          </a:solidFill>
          <a:ln w="12700">
            <a:solidFill>
              <a:srgbClr val="2A44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74320" rIns="164592" rtlCol="0" anchor="ctr"/>
          <a:lstStyle/>
          <a:p>
            <a:pPr algn="ctr">
              <a:defRPr sz="1400" b="1">
                <a:solidFill>
                  <a:srgbClr val="F2D57E"/>
                </a:solidFill>
              </a:defRPr>
            </a:pPr>
            <a:r>
              <a:t>API Keys（必需）</a:t>
            </a:r>
          </a:p>
          <a:p>
            <a:pPr>
              <a:spcBef>
                <a:spcPts val="250"/>
              </a:spcBef>
              <a:defRPr sz="1200">
                <a:solidFill>
                  <a:srgbClr val="D5DDEA"/>
                </a:solidFill>
              </a:defRPr>
            </a:pPr>
            <a:r>
              <a:t>LLM：DeepSeek / OpenAI 兼容 / Codex</a:t>
            </a:r>
          </a:p>
          <a:p>
            <a:pPr>
              <a:spcBef>
                <a:spcPts val="250"/>
              </a:spcBef>
              <a:defRPr sz="1200">
                <a:solidFill>
                  <a:srgbClr val="D5DDEA"/>
                </a:solidFill>
              </a:defRPr>
            </a:pPr>
            <a:r>
              <a:t>PATENTRADAR_OPENAI_BASE_URL + API_KEY</a:t>
            </a:r>
          </a:p>
          <a:p>
            <a:pPr>
              <a:spcBef>
                <a:spcPts val="250"/>
              </a:spcBef>
              <a:defRPr sz="1200">
                <a:solidFill>
                  <a:srgbClr val="D5DDEA"/>
                </a:solidFill>
              </a:defRPr>
            </a:pPr>
            <a:r>
              <a:t>搜索：至少 1 个（Tavily 推荐 / Bocha）</a:t>
            </a:r>
          </a:p>
          <a:p>
            <a:pPr>
              <a:spcBef>
                <a:spcPts val="250"/>
              </a:spcBef>
              <a:defRPr sz="1200">
                <a:solidFill>
                  <a:srgbClr val="D5DDEA"/>
                </a:solidFill>
              </a:defRPr>
            </a:pPr>
            <a:r>
              <a:t>都填进 .env（模板已就绪）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37960" y="1600200"/>
            <a:ext cx="411480" cy="50800"/>
          </a:xfrm>
          <a:prstGeom prst="rect">
            <a:avLst/>
          </a:prstGeom>
          <a:solidFill>
            <a:srgbClr val="35C4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40080" y="3931920"/>
            <a:ext cx="5394960" cy="2194560"/>
          </a:xfrm>
          <a:prstGeom prst="roundRect">
            <a:avLst>
              <a:gd name="adj" fmla="val 6000"/>
            </a:avLst>
          </a:prstGeom>
          <a:solidFill>
            <a:srgbClr val="162C4E">
              <a:alpha val="90000"/>
            </a:srgbClr>
          </a:solidFill>
          <a:ln w="12700">
            <a:solidFill>
              <a:srgbClr val="2A44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74320" rIns="164592" rtlCol="0" anchor="ctr"/>
          <a:lstStyle/>
          <a:p>
            <a:pPr algn="ctr">
              <a:defRPr sz="1400" b="1">
                <a:solidFill>
                  <a:srgbClr val="F2D57E"/>
                </a:solidFill>
              </a:defRPr>
            </a:pPr>
            <a:r>
              <a:t>PDF 渲染系统库</a:t>
            </a:r>
          </a:p>
          <a:p>
            <a:pPr>
              <a:spcBef>
                <a:spcPts val="250"/>
              </a:spcBef>
              <a:defRPr sz="1200">
                <a:solidFill>
                  <a:srgbClr val="D5DDEA"/>
                </a:solidFill>
              </a:defRPr>
            </a:pPr>
            <a:r>
              <a:t>macOS:  brew install pango</a:t>
            </a:r>
          </a:p>
          <a:p>
            <a:pPr>
              <a:spcBef>
                <a:spcPts val="250"/>
              </a:spcBef>
              <a:defRPr sz="1200">
                <a:solidFill>
                  <a:srgbClr val="D5DDEA"/>
                </a:solidFill>
              </a:defRPr>
            </a:pPr>
            <a:r>
              <a:t>Linux:  apt install libpango-1.0-0 libcairo2 …</a:t>
            </a:r>
          </a:p>
          <a:p>
            <a:pPr>
              <a:spcBef>
                <a:spcPts val="250"/>
              </a:spcBef>
              <a:defRPr sz="1200">
                <a:solidFill>
                  <a:srgbClr val="D5DDEA"/>
                </a:solidFill>
              </a:defRPr>
            </a:pPr>
            <a:r>
              <a:t>无 sudo 时: micromamba + conda-forge pango</a:t>
            </a:r>
          </a:p>
          <a:p>
            <a:pPr>
              <a:spcBef>
                <a:spcPts val="250"/>
              </a:spcBef>
              <a:defRPr sz="1200">
                <a:solidFill>
                  <a:srgbClr val="D5DDEA"/>
                </a:solidFill>
              </a:defRPr>
            </a:pPr>
            <a:r>
              <a:t>缺库 → 只出 md，无 PDF（不阻塞）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8680" y="4114800"/>
            <a:ext cx="411480" cy="508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309360" y="3931920"/>
            <a:ext cx="5394960" cy="2194560"/>
          </a:xfrm>
          <a:prstGeom prst="roundRect">
            <a:avLst>
              <a:gd name="adj" fmla="val 6000"/>
            </a:avLst>
          </a:prstGeom>
          <a:solidFill>
            <a:srgbClr val="162C4E">
              <a:alpha val="90000"/>
            </a:srgbClr>
          </a:solidFill>
          <a:ln w="12700">
            <a:solidFill>
              <a:srgbClr val="2A44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74320" rIns="164592" rtlCol="0" anchor="ctr"/>
          <a:lstStyle/>
          <a:p>
            <a:pPr algn="ctr">
              <a:defRPr sz="1400" b="1">
                <a:solidFill>
                  <a:srgbClr val="F2D57E"/>
                </a:solidFill>
              </a:defRPr>
            </a:pPr>
            <a:r>
              <a:t>网络（大陆网络注意）</a:t>
            </a:r>
          </a:p>
          <a:p>
            <a:pPr>
              <a:spcBef>
                <a:spcPts val="250"/>
              </a:spcBef>
              <a:defRPr sz="1200">
                <a:solidFill>
                  <a:srgbClr val="D5DDEA"/>
                </a:solidFill>
              </a:defRPr>
            </a:pPr>
            <a:r>
              <a:t>Google Patents 直连可能超时</a:t>
            </a:r>
          </a:p>
          <a:p>
            <a:pPr>
              <a:spcBef>
                <a:spcPts val="250"/>
              </a:spcBef>
              <a:defRPr sz="1200">
                <a:solidFill>
                  <a:srgbClr val="D5DDEA"/>
                </a:solidFill>
              </a:defRPr>
            </a:pPr>
            <a:r>
              <a:t>方案 A：系统代理（Clash 等）</a:t>
            </a:r>
          </a:p>
          <a:p>
            <a:pPr>
              <a:spcBef>
                <a:spcPts val="250"/>
              </a:spcBef>
              <a:defRPr sz="1200">
                <a:solidFill>
                  <a:srgbClr val="D5DDEA"/>
                </a:solidFill>
              </a:defRPr>
            </a:pPr>
            <a:r>
              <a:t>方案 B：PATENTRADAR_GOOGLE_FETCH_MODE=tavily</a:t>
            </a:r>
          </a:p>
          <a:p>
            <a:pPr>
              <a:spcBef>
                <a:spcPts val="250"/>
              </a:spcBef>
              <a:defRPr sz="1200">
                <a:solidFill>
                  <a:srgbClr val="D5DDEA"/>
                </a:solidFill>
              </a:defRPr>
            </a:pPr>
            <a:r>
              <a:t>详见「踩坑与解决」页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37960" y="4114800"/>
            <a:ext cx="411480" cy="50800"/>
          </a:xfrm>
          <a:prstGeom prst="rect">
            <a:avLst/>
          </a:prstGeom>
          <a:solidFill>
            <a:srgbClr val="35C4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AA8C0"/>
                </a:solidFill>
              </a:defRPr>
            </a:pPr>
            <a:r>
              <a:t>PatentRadar 本地部署指南 · 02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it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240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457200"/>
            <a:ext cx="76200" cy="64008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365760"/>
            <a:ext cx="10058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快速部署步骤</a:t>
            </a:r>
          </a:p>
          <a:p>
            <a:pPr>
              <a:spcBef>
                <a:spcPts val="200"/>
              </a:spcBef>
              <a:defRPr sz="1300">
                <a:solidFill>
                  <a:srgbClr val="F2D57E"/>
                </a:solidFill>
              </a:defRPr>
            </a:pPr>
            <a:r>
              <a:t>本地 uv 模式（推荐）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457200"/>
            <a:ext cx="914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200" b="1">
                <a:solidFill>
                  <a:srgbClr val="D4AF37"/>
                </a:solidFill>
              </a:defRPr>
            </a:pPr>
            <a: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17320"/>
            <a:ext cx="5577840" cy="4754880"/>
          </a:xfrm>
          <a:prstGeom prst="roundRect">
            <a:avLst>
              <a:gd name="adj" fmla="val 6000"/>
            </a:avLst>
          </a:prstGeom>
          <a:solidFill>
            <a:srgbClr val="162C4E">
              <a:alpha val="90000"/>
            </a:srgbClr>
          </a:solidFill>
          <a:ln w="12700">
            <a:solidFill>
              <a:srgbClr val="2A44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74320" rIns="164592" rtlCol="0" anchor="ctr"/>
          <a:lstStyle/>
          <a:p>
            <a:pPr algn="ctr">
              <a:defRPr sz="1400" b="1">
                <a:solidFill>
                  <a:srgbClr val="F2D57E"/>
                </a:solidFill>
              </a:defRPr>
            </a:pPr>
            <a:r>
              <a:t>命令行序列（可直接复制）</a:t>
            </a:r>
          </a:p>
          <a:p>
            <a:pPr>
              <a:spcBef>
                <a:spcPts val="250"/>
              </a:spcBef>
              <a:defRPr sz="1200">
                <a:solidFill>
                  <a:srgbClr val="9FE8E4"/>
                </a:solidFill>
                <a:latin typeface="Courier New"/>
              </a:defRPr>
            </a:pPr>
            <a:r>
              <a:t># 1. 安装 uv（若已有可跳过）</a:t>
            </a:r>
          </a:p>
          <a:p>
            <a:pPr>
              <a:spcBef>
                <a:spcPts val="250"/>
              </a:spcBef>
              <a:defRPr sz="1200">
                <a:solidFill>
                  <a:srgbClr val="9FE8E4"/>
                </a:solidFill>
                <a:latin typeface="Courier New"/>
              </a:defRPr>
            </a:pPr>
            <a:r>
              <a:t>pip install uv   # 或 curl -LsSf https://astral.sh/uv/install.sh | sh</a:t>
            </a:r>
          </a:p>
          <a:p>
            <a:pPr>
              <a:spcBef>
                <a:spcPts val="250"/>
              </a:spcBef>
              <a:defRPr sz="1200">
                <a:solidFill>
                  <a:srgbClr val="9FE8E4"/>
                </a:solidFill>
                <a:latin typeface="Courier New"/>
              </a:defRPr>
            </a:pPr>
            <a:r>
              <a:t># 2. 安装全部依赖（自动下载 Python 3.14）</a:t>
            </a:r>
          </a:p>
          <a:p>
            <a:pPr>
              <a:spcBef>
                <a:spcPts val="250"/>
              </a:spcBef>
              <a:defRPr sz="1200">
                <a:solidFill>
                  <a:srgbClr val="9FE8E4"/>
                </a:solidFill>
                <a:latin typeface="Courier New"/>
              </a:defRPr>
            </a:pPr>
            <a:r>
              <a:t>uv sync</a:t>
            </a:r>
          </a:p>
          <a:p>
            <a:pPr>
              <a:spcBef>
                <a:spcPts val="250"/>
              </a:spcBef>
              <a:defRPr sz="1200">
                <a:solidFill>
                  <a:srgbClr val="9FE8E4"/>
                </a:solidFill>
                <a:latin typeface="Courier New"/>
              </a:defRPr>
            </a:pPr>
            <a:r>
              <a:t># 3. 配置环境变量</a:t>
            </a:r>
          </a:p>
          <a:p>
            <a:pPr>
              <a:spcBef>
                <a:spcPts val="250"/>
              </a:spcBef>
              <a:defRPr sz="1200">
                <a:solidFill>
                  <a:srgbClr val="9FE8E4"/>
                </a:solidFill>
                <a:latin typeface="Courier New"/>
              </a:defRPr>
            </a:pPr>
            <a:r>
              <a:t>cp .env.example .env &amp;&amp; vim .env   # 填 API keys</a:t>
            </a:r>
          </a:p>
          <a:p>
            <a:pPr>
              <a:spcBef>
                <a:spcPts val="250"/>
              </a:spcBef>
              <a:defRPr sz="1200">
                <a:solidFill>
                  <a:srgbClr val="9FE8E4"/>
                </a:solidFill>
                <a:latin typeface="Courier New"/>
              </a:defRPr>
            </a:pPr>
            <a:r>
              <a:t># 4. 安装 PDF 渲染库（macOS）</a:t>
            </a:r>
          </a:p>
          <a:p>
            <a:pPr>
              <a:spcBef>
                <a:spcPts val="250"/>
              </a:spcBef>
              <a:defRPr sz="1200">
                <a:solidFill>
                  <a:srgbClr val="9FE8E4"/>
                </a:solidFill>
                <a:latin typeface="Courier New"/>
              </a:defRPr>
            </a:pPr>
            <a:r>
              <a:t>brew install pango</a:t>
            </a:r>
          </a:p>
          <a:p>
            <a:pPr>
              <a:spcBef>
                <a:spcPts val="250"/>
              </a:spcBef>
              <a:defRPr sz="1200">
                <a:solidFill>
                  <a:srgbClr val="9FE8E4"/>
                </a:solidFill>
                <a:latin typeface="Courier New"/>
              </a:defRPr>
            </a:pPr>
            <a:r>
              <a:t># 5. 启动 Web Dashboard</a:t>
            </a:r>
          </a:p>
          <a:p>
            <a:pPr>
              <a:spcBef>
                <a:spcPts val="250"/>
              </a:spcBef>
              <a:defRPr sz="1200">
                <a:solidFill>
                  <a:srgbClr val="9FE8E4"/>
                </a:solidFill>
                <a:latin typeface="Courier New"/>
              </a:defRPr>
            </a:pPr>
            <a:r>
              <a:t>uv run uvicorn patentradar.server.app:app --port 8000</a:t>
            </a:r>
          </a:p>
          <a:p>
            <a:pPr>
              <a:spcBef>
                <a:spcPts val="250"/>
              </a:spcBef>
              <a:defRPr sz="1200">
                <a:solidFill>
                  <a:srgbClr val="9FE8E4"/>
                </a:solidFill>
                <a:latin typeface="Courier New"/>
              </a:defRPr>
            </a:pPr>
            <a:r>
              <a:t># 6. 浏览器打开</a:t>
            </a:r>
          </a:p>
          <a:p>
            <a:pPr>
              <a:spcBef>
                <a:spcPts val="250"/>
              </a:spcBef>
              <a:defRPr sz="1200">
                <a:solidFill>
                  <a:srgbClr val="9FE8E4"/>
                </a:solidFill>
                <a:latin typeface="Courier New"/>
              </a:defRPr>
            </a:pPr>
            <a:r>
              <a:t>open http://localhost:8000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1600200"/>
            <a:ext cx="411480" cy="508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400800" y="1417320"/>
            <a:ext cx="5120640" cy="2286000"/>
          </a:xfrm>
          <a:prstGeom prst="roundRect">
            <a:avLst>
              <a:gd name="adj" fmla="val 6000"/>
            </a:avLst>
          </a:prstGeom>
          <a:solidFill>
            <a:srgbClr val="162C4E">
              <a:alpha val="90000"/>
            </a:srgbClr>
          </a:solidFill>
          <a:ln w="12700">
            <a:solidFill>
              <a:srgbClr val="2A44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74320" rIns="164592" rtlCol="0" anchor="ctr"/>
          <a:lstStyle/>
          <a:p>
            <a:pPr algn="ctr">
              <a:defRPr sz="1400" b="1">
                <a:solidFill>
                  <a:srgbClr val="F2D57E"/>
                </a:solidFill>
              </a:defRPr>
            </a:pPr>
            <a:r>
              <a:t>Docker 备选</a:t>
            </a:r>
          </a:p>
          <a:p>
            <a:pPr>
              <a:spcBef>
                <a:spcPts val="250"/>
              </a:spcBef>
              <a:defRPr sz="1200">
                <a:solidFill>
                  <a:srgbClr val="9FE8E4"/>
                </a:solidFill>
                <a:latin typeface="Courier New"/>
              </a:defRPr>
            </a:pPr>
            <a:r>
              <a:t>docker compose up -d --build</a:t>
            </a:r>
          </a:p>
          <a:p>
            <a:pPr>
              <a:spcBef>
                <a:spcPts val="250"/>
              </a:spcBef>
              <a:defRPr sz="1200">
                <a:solidFill>
                  <a:srgbClr val="D5DDEA"/>
                </a:solidFill>
              </a:defRPr>
            </a:pPr>
            <a:r>
              <a:t>宿主机只需 Docker（免 Python/uv/pango）</a:t>
            </a:r>
          </a:p>
          <a:p>
            <a:pPr>
              <a:spcBef>
                <a:spcPts val="250"/>
              </a:spcBef>
              <a:defRPr sz="1200">
                <a:solidFill>
                  <a:srgbClr val="D5DDEA"/>
                </a:solidFill>
              </a:defRPr>
            </a:pPr>
            <a:r>
              <a:t>容器内必须用 OpenAI 兼容后端</a:t>
            </a:r>
          </a:p>
          <a:p>
            <a:pPr>
              <a:spcBef>
                <a:spcPts val="250"/>
              </a:spcBef>
              <a:defRPr sz="1200">
                <a:solidFill>
                  <a:srgbClr val="D5DDEA"/>
                </a:solidFill>
              </a:defRPr>
            </a:pPr>
            <a:r>
              <a:t>volume 挂载 data/ logs/ configs/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29400" y="1600200"/>
            <a:ext cx="411480" cy="508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400800" y="3886200"/>
            <a:ext cx="5120640" cy="2286000"/>
          </a:xfrm>
          <a:prstGeom prst="roundRect">
            <a:avLst>
              <a:gd name="adj" fmla="val 6000"/>
            </a:avLst>
          </a:prstGeom>
          <a:solidFill>
            <a:srgbClr val="162C4E">
              <a:alpha val="90000"/>
            </a:srgbClr>
          </a:solidFill>
          <a:ln w="12700">
            <a:solidFill>
              <a:srgbClr val="2A44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74320" rIns="164592" rtlCol="0" anchor="ctr"/>
          <a:lstStyle/>
          <a:p>
            <a:pPr algn="ctr">
              <a:defRPr sz="1400" b="1">
                <a:solidFill>
                  <a:srgbClr val="F2D57E"/>
                </a:solidFill>
              </a:defRPr>
            </a:pPr>
            <a:r>
              <a:t>验证是否装好</a:t>
            </a:r>
          </a:p>
          <a:p>
            <a:pPr>
              <a:spcBef>
                <a:spcPts val="250"/>
              </a:spcBef>
              <a:defRPr sz="1200">
                <a:solidFill>
                  <a:srgbClr val="9FE8E4"/>
                </a:solidFill>
                <a:latin typeface="Courier New"/>
              </a:defRPr>
            </a:pPr>
            <a:r>
              <a:t>uv run patentradar --help</a:t>
            </a:r>
          </a:p>
          <a:p>
            <a:pPr>
              <a:spcBef>
                <a:spcPts val="250"/>
              </a:spcBef>
              <a:defRPr sz="1200">
                <a:solidFill>
                  <a:srgbClr val="D5DDEA"/>
                </a:solidFill>
              </a:defRPr>
            </a:pPr>
            <a:r>
              <a:t>出现 4 个子命令 = CLI 就绪</a:t>
            </a:r>
          </a:p>
          <a:p>
            <a:pPr>
              <a:spcBef>
                <a:spcPts val="250"/>
              </a:spcBef>
              <a:defRPr sz="1200">
                <a:solidFill>
                  <a:srgbClr val="9FE8E4"/>
                </a:solidFill>
                <a:latin typeface="Courier New"/>
              </a:defRPr>
            </a:pPr>
            <a:r>
              <a:t>uv run python -c "import weasyprint"</a:t>
            </a:r>
          </a:p>
          <a:p>
            <a:pPr>
              <a:spcBef>
                <a:spcPts val="250"/>
              </a:spcBef>
              <a:defRPr sz="1200">
                <a:solidFill>
                  <a:srgbClr val="D5DDEA"/>
                </a:solidFill>
              </a:defRPr>
            </a:pPr>
            <a:r>
              <a:t>无报错 = PDF 渲染就绪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629400" y="4069080"/>
            <a:ext cx="411480" cy="508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AA8C0"/>
                </a:solidFill>
              </a:defRPr>
            </a:pPr>
            <a:r>
              <a:t>PatentRadar 本地部署指南 · 03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oas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240">
              <a:alpha val="5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457200"/>
            <a:ext cx="76200" cy="64008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365760"/>
            <a:ext cx="10058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.env 配置详解</a:t>
            </a:r>
          </a:p>
          <a:p>
            <a:pPr>
              <a:spcBef>
                <a:spcPts val="200"/>
              </a:spcBef>
              <a:defRPr sz="1300">
                <a:solidFill>
                  <a:srgbClr val="F2D57E"/>
                </a:solidFill>
              </a:defRPr>
            </a:pPr>
            <a:r>
              <a:t>模板见 .env.example，全部变量如下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457200"/>
            <a:ext cx="914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200" b="1">
                <a:solidFill>
                  <a:srgbClr val="D4AF37"/>
                </a:solidFill>
              </a:defRPr>
            </a:pPr>
            <a:r>
              <a:t>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17320"/>
            <a:ext cx="5394960" cy="2331720"/>
          </a:xfrm>
          <a:prstGeom prst="roundRect">
            <a:avLst>
              <a:gd name="adj" fmla="val 6000"/>
            </a:avLst>
          </a:prstGeom>
          <a:solidFill>
            <a:srgbClr val="162C4E">
              <a:alpha val="90000"/>
            </a:srgbClr>
          </a:solidFill>
          <a:ln w="12700">
            <a:solidFill>
              <a:srgbClr val="2A44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74320" rIns="164592" rtlCol="0" anchor="ctr"/>
          <a:lstStyle/>
          <a:p>
            <a:pPr algn="ctr">
              <a:defRPr sz="1400" b="1">
                <a:solidFill>
                  <a:srgbClr val="F2D57E"/>
                </a:solidFill>
              </a:defRPr>
            </a:pPr>
            <a:r>
              <a:t>LLM 必填（OpenAI 兼容示例）</a:t>
            </a:r>
          </a:p>
          <a:p>
            <a:pPr>
              <a:spcBef>
                <a:spcPts val="250"/>
              </a:spcBef>
              <a:defRPr sz="1200">
                <a:solidFill>
                  <a:srgbClr val="9FE8E4"/>
                </a:solidFill>
                <a:latin typeface="Courier New"/>
              </a:defRPr>
            </a:pPr>
            <a:r>
              <a:t>PATENTRADAR_LLM_BACKEND=openai</a:t>
            </a:r>
          </a:p>
          <a:p>
            <a:pPr>
              <a:spcBef>
                <a:spcPts val="250"/>
              </a:spcBef>
              <a:defRPr sz="1200">
                <a:solidFill>
                  <a:srgbClr val="9FE8E4"/>
                </a:solidFill>
                <a:latin typeface="Courier New"/>
              </a:defRPr>
            </a:pPr>
            <a:r>
              <a:t>PATENTRADAR_OPENAI_BASE_URL=https://api.deepseek.com/v1</a:t>
            </a:r>
          </a:p>
          <a:p>
            <a:pPr>
              <a:spcBef>
                <a:spcPts val="250"/>
              </a:spcBef>
              <a:defRPr sz="1200">
                <a:solidFill>
                  <a:srgbClr val="9FE8E4"/>
                </a:solidFill>
                <a:latin typeface="Courier New"/>
              </a:defRPr>
            </a:pPr>
            <a:r>
              <a:t>PATENTRADAR_OPENAI_API_KEY=sk-xxx</a:t>
            </a:r>
          </a:p>
          <a:p>
            <a:pPr>
              <a:spcBef>
                <a:spcPts val="250"/>
              </a:spcBef>
              <a:defRPr sz="1200">
                <a:solidFill>
                  <a:srgbClr val="9FE8E4"/>
                </a:solidFill>
                <a:latin typeface="Courier New"/>
              </a:defRPr>
            </a:pPr>
            <a:r>
              <a:t>PATENTRADAR_MODEL=deepseek-chat</a:t>
            </a:r>
          </a:p>
          <a:p>
            <a:pPr>
              <a:spcBef>
                <a:spcPts val="250"/>
              </a:spcBef>
              <a:defRPr sz="1200">
                <a:solidFill>
                  <a:srgbClr val="9FE8E4"/>
                </a:solidFill>
                <a:latin typeface="Courier New"/>
              </a:defRPr>
            </a:pPr>
            <a:r>
              <a:t>PATENTRADAR_CONTEXT_LENGTH=128000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1600200"/>
            <a:ext cx="411480" cy="50800"/>
          </a:xfrm>
          <a:prstGeom prst="rect">
            <a:avLst/>
          </a:prstGeom>
          <a:solidFill>
            <a:srgbClr val="35C4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394960" cy="2331720"/>
          </a:xfrm>
          <a:prstGeom prst="roundRect">
            <a:avLst>
              <a:gd name="adj" fmla="val 6000"/>
            </a:avLst>
          </a:prstGeom>
          <a:solidFill>
            <a:srgbClr val="162C4E">
              <a:alpha val="90000"/>
            </a:srgbClr>
          </a:solidFill>
          <a:ln w="12700">
            <a:solidFill>
              <a:srgbClr val="2A44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74320" rIns="164592" rtlCol="0" anchor="ctr"/>
          <a:lstStyle/>
          <a:p>
            <a:pPr algn="ctr">
              <a:defRPr sz="1400" b="1">
                <a:solidFill>
                  <a:srgbClr val="F2D57E"/>
                </a:solidFill>
              </a:defRPr>
            </a:pPr>
            <a:r>
              <a:t>搜索（至少 1 个）</a:t>
            </a:r>
          </a:p>
          <a:p>
            <a:pPr>
              <a:spcBef>
                <a:spcPts val="250"/>
              </a:spcBef>
              <a:defRPr sz="1200">
                <a:solidFill>
                  <a:srgbClr val="9FE8E4"/>
                </a:solidFill>
                <a:latin typeface="Courier New"/>
              </a:defRPr>
            </a:pPr>
            <a:r>
              <a:t>TAVILY_API_KEYS=tvly-a,tvly-b   # 多 key 轮换</a:t>
            </a:r>
          </a:p>
          <a:p>
            <a:pPr>
              <a:spcBef>
                <a:spcPts val="250"/>
              </a:spcBef>
              <a:defRPr sz="1200">
                <a:solidFill>
                  <a:srgbClr val="9FE8E4"/>
                </a:solidFill>
                <a:latin typeface="Courier New"/>
              </a:defRPr>
            </a:pPr>
            <a:r>
              <a:t>BOCHA_API_KEY=sk-xxx</a:t>
            </a:r>
          </a:p>
          <a:p>
            <a:pPr>
              <a:spcBef>
                <a:spcPts val="250"/>
              </a:spcBef>
              <a:defRPr sz="1200">
                <a:solidFill>
                  <a:srgbClr val="9FE8E4"/>
                </a:solidFill>
                <a:latin typeface="Courier New"/>
              </a:defRPr>
            </a:pPr>
            <a:r>
              <a:t>EXA_API_KEY=  /  BRAVE_API_KEY=</a:t>
            </a:r>
          </a:p>
          <a:p>
            <a:pPr>
              <a:spcBef>
                <a:spcPts val="250"/>
              </a:spcBef>
              <a:defRPr sz="1200">
                <a:solidFill>
                  <a:srgbClr val="D5DDEA"/>
                </a:solidFill>
              </a:defRPr>
            </a:pPr>
            <a:r>
              <a:t>Tavily 是主力；多 key 逗号分隔自动轮换</a:t>
            </a:r>
          </a:p>
          <a:p>
            <a:pPr>
              <a:spcBef>
                <a:spcPts val="250"/>
              </a:spcBef>
              <a:defRPr sz="1200">
                <a:solidFill>
                  <a:srgbClr val="D5DDEA"/>
                </a:solidFill>
              </a:defRPr>
            </a:pPr>
            <a:r>
              <a:t>连接越多，搜索效果越好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37960" y="1600200"/>
            <a:ext cx="411480" cy="50800"/>
          </a:xfrm>
          <a:prstGeom prst="rect">
            <a:avLst/>
          </a:prstGeom>
          <a:solidFill>
            <a:srgbClr val="35C4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40080" y="3931920"/>
            <a:ext cx="5394960" cy="2194560"/>
          </a:xfrm>
          <a:prstGeom prst="roundRect">
            <a:avLst>
              <a:gd name="adj" fmla="val 6000"/>
            </a:avLst>
          </a:prstGeom>
          <a:solidFill>
            <a:srgbClr val="162C4E">
              <a:alpha val="90000"/>
            </a:srgbClr>
          </a:solidFill>
          <a:ln w="12700">
            <a:solidFill>
              <a:srgbClr val="2A44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74320" rIns="164592" rtlCol="0" anchor="ctr"/>
          <a:lstStyle/>
          <a:p>
            <a:pPr algn="ctr">
              <a:defRPr sz="1400" b="1">
                <a:solidFill>
                  <a:srgbClr val="F2D57E"/>
                </a:solidFill>
              </a:defRPr>
            </a:pPr>
            <a:r>
              <a:t>部署增强项（本指南新增）</a:t>
            </a:r>
          </a:p>
          <a:p>
            <a:pPr>
              <a:spcBef>
                <a:spcPts val="250"/>
              </a:spcBef>
              <a:defRPr sz="1200">
                <a:solidFill>
                  <a:srgbClr val="9FE8E4"/>
                </a:solidFill>
                <a:latin typeface="Courier New"/>
              </a:defRPr>
            </a:pPr>
            <a:r>
              <a:t>PATENTRADAR_GOOGLE_FETCH_MODE=auto</a:t>
            </a:r>
          </a:p>
          <a:p>
            <a:pPr>
              <a:spcBef>
                <a:spcPts val="250"/>
              </a:spcBef>
              <a:defRPr sz="1200">
                <a:solidFill>
                  <a:srgbClr val="D5DDEA"/>
                </a:solidFill>
              </a:defRPr>
            </a:pPr>
            <a:r>
              <a:t>direct|tavily|auto — 直连失败自动切 Tavily</a:t>
            </a:r>
          </a:p>
          <a:p>
            <a:pPr>
              <a:spcBef>
                <a:spcPts val="250"/>
              </a:spcBef>
              <a:defRPr sz="1200">
                <a:solidFill>
                  <a:srgbClr val="9FE8E4"/>
                </a:solidFill>
                <a:latin typeface="Courier New"/>
              </a:defRPr>
            </a:pPr>
            <a:r>
              <a:t>PATENTRADAR_MAX_OUTPUT_TOKENS=32768</a:t>
            </a:r>
          </a:p>
          <a:p>
            <a:pPr>
              <a:spcBef>
                <a:spcPts val="250"/>
              </a:spcBef>
              <a:defRPr sz="1200">
                <a:solidFill>
                  <a:srgbClr val="D5DDEA"/>
                </a:solidFill>
              </a:defRPr>
            </a:pPr>
            <a:r>
              <a:t>修复 OpenAI 兼容后端长输出截断</a:t>
            </a:r>
          </a:p>
          <a:p>
            <a:pPr>
              <a:spcBef>
                <a:spcPts val="250"/>
              </a:spcBef>
              <a:defRPr sz="1200">
                <a:solidFill>
                  <a:srgbClr val="9FE8E4"/>
                </a:solidFill>
                <a:latin typeface="Courier New"/>
              </a:defRPr>
            </a:pPr>
            <a:r>
              <a:t>HTTPS_PROXY=http://127.0.0.1:7890</a:t>
            </a:r>
          </a:p>
          <a:p>
            <a:pPr>
              <a:spcBef>
                <a:spcPts val="250"/>
              </a:spcBef>
              <a:defRPr sz="1200">
                <a:solidFill>
                  <a:srgbClr val="D5DDEA"/>
                </a:solidFill>
              </a:defRPr>
            </a:pPr>
            <a:r>
              <a:t>有代理时填，抓取器显式走代理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8680" y="4114800"/>
            <a:ext cx="411480" cy="508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309360" y="3931920"/>
            <a:ext cx="5394960" cy="2194560"/>
          </a:xfrm>
          <a:prstGeom prst="roundRect">
            <a:avLst>
              <a:gd name="adj" fmla="val 6000"/>
            </a:avLst>
          </a:prstGeom>
          <a:solidFill>
            <a:srgbClr val="162C4E">
              <a:alpha val="90000"/>
            </a:srgbClr>
          </a:solidFill>
          <a:ln w="12700">
            <a:solidFill>
              <a:srgbClr val="2A44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74320" rIns="164592" rtlCol="0" anchor="ctr"/>
          <a:lstStyle/>
          <a:p>
            <a:pPr algn="ctr">
              <a:defRPr sz="1400" b="1">
                <a:solidFill>
                  <a:srgbClr val="F2D57E"/>
                </a:solidFill>
              </a:defRPr>
            </a:pPr>
            <a:r>
              <a:t>Codex 后端（备选）</a:t>
            </a:r>
          </a:p>
          <a:p>
            <a:pPr>
              <a:spcBef>
                <a:spcPts val="250"/>
              </a:spcBef>
              <a:defRPr sz="1200">
                <a:solidFill>
                  <a:srgbClr val="9FE8E4"/>
                </a:solidFill>
                <a:latin typeface="Courier New"/>
              </a:defRPr>
            </a:pPr>
            <a:r>
              <a:t>PATENTRADAR_LLM_BACKEND=codex</a:t>
            </a:r>
          </a:p>
          <a:p>
            <a:pPr>
              <a:spcBef>
                <a:spcPts val="250"/>
              </a:spcBef>
              <a:defRPr sz="1200">
                <a:solidFill>
                  <a:srgbClr val="D5DDEA"/>
                </a:solidFill>
              </a:defRPr>
            </a:pPr>
            <a:r>
              <a:t>需本机安装 codex CLI 并 codex login</a:t>
            </a:r>
          </a:p>
          <a:p>
            <a:pPr>
              <a:spcBef>
                <a:spcPts val="250"/>
              </a:spcBef>
              <a:defRPr sz="1200">
                <a:solidFill>
                  <a:srgbClr val="D5DDEA"/>
                </a:solidFill>
              </a:defRPr>
            </a:pPr>
            <a:r>
              <a:t>默认模型 gpt-5.5 · 上下文 258K</a:t>
            </a:r>
          </a:p>
          <a:p>
            <a:pPr>
              <a:spcBef>
                <a:spcPts val="250"/>
              </a:spcBef>
              <a:defRPr sz="1200">
                <a:solidFill>
                  <a:srgbClr val="D5DDEA"/>
                </a:solidFill>
              </a:defRPr>
            </a:pPr>
            <a:r>
              <a:t>支持视觉（公式/图示 PDF 还原）</a:t>
            </a:r>
          </a:p>
          <a:p>
            <a:pPr>
              <a:spcBef>
                <a:spcPts val="250"/>
              </a:spcBef>
              <a:defRPr sz="1200">
                <a:solidFill>
                  <a:srgbClr val="D5DDEA"/>
                </a:solidFill>
              </a:defRPr>
            </a:pPr>
            <a:r>
              <a:t>Docker 方式不可用 codex 后端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37960" y="4114800"/>
            <a:ext cx="411480" cy="508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AA8C0"/>
                </a:solidFill>
              </a:defRPr>
            </a:pPr>
            <a:r>
              <a:t>PatentRadar 本地部署指南 · 04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it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240">
              <a:alpha val="5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457200"/>
            <a:ext cx="76200" cy="64008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365760"/>
            <a:ext cx="10058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踩坑与解决 · ① 网络</a:t>
            </a:r>
          </a:p>
          <a:p>
            <a:pPr>
              <a:spcBef>
                <a:spcPts val="200"/>
              </a:spcBef>
              <a:defRPr sz="1300">
                <a:solidFill>
                  <a:srgbClr val="F2D57E"/>
                </a:solidFill>
              </a:defRPr>
            </a:pPr>
            <a:r>
              <a:t>Google Patents 直连被墙 / 超时 —— 最常见问题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457200"/>
            <a:ext cx="914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200" b="1">
                <a:solidFill>
                  <a:srgbClr val="D4AF37"/>
                </a:solidFill>
              </a:defRPr>
            </a:pPr>
            <a: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17320"/>
            <a:ext cx="5394960" cy="2331720"/>
          </a:xfrm>
          <a:prstGeom prst="roundRect">
            <a:avLst>
              <a:gd name="adj" fmla="val 6000"/>
            </a:avLst>
          </a:prstGeom>
          <a:solidFill>
            <a:srgbClr val="162C4E">
              <a:alpha val="90000"/>
            </a:srgbClr>
          </a:solidFill>
          <a:ln w="12700">
            <a:solidFill>
              <a:srgbClr val="2A44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74320" rIns="164592" rtlCol="0" anchor="ctr"/>
          <a:lstStyle/>
          <a:p>
            <a:pPr algn="ctr">
              <a:defRPr sz="1400" b="1">
                <a:solidFill>
                  <a:srgbClr val="F2D57E"/>
                </a:solidFill>
              </a:defRPr>
            </a:pPr>
            <a:r>
              <a:t>现象</a:t>
            </a:r>
          </a:p>
          <a:p>
            <a:pPr>
              <a:spcBef>
                <a:spcPts val="250"/>
              </a:spcBef>
              <a:defRPr sz="1200">
                <a:solidFill>
                  <a:srgbClr val="D5DDEA"/>
                </a:solidFill>
              </a:defRPr>
            </a:pPr>
            <a:r>
              <a:t>模块 1（decompose）抓 Google Patents 超时</a:t>
            </a:r>
          </a:p>
          <a:p>
            <a:pPr>
              <a:spcBef>
                <a:spcPts val="250"/>
              </a:spcBef>
              <a:defRPr sz="1200">
                <a:solidFill>
                  <a:srgbClr val="D5DDEA"/>
                </a:solidFill>
              </a:defRPr>
            </a:pPr>
            <a:r>
              <a:t>浏览器能开、命令行 curl 却超时</a:t>
            </a:r>
          </a:p>
          <a:p>
            <a:pPr>
              <a:spcBef>
                <a:spcPts val="250"/>
              </a:spcBef>
              <a:defRPr sz="1200">
                <a:solidFill>
                  <a:srgbClr val="D5DDEA"/>
                </a:solidFill>
              </a:defRPr>
            </a:pPr>
            <a:r>
              <a:t>原因：系统代理（Clash）命令行走不到</a:t>
            </a:r>
          </a:p>
          <a:p>
            <a:pPr>
              <a:spcBef>
                <a:spcPts val="250"/>
              </a:spcBef>
              <a:defRPr sz="1200">
                <a:solidFill>
                  <a:srgbClr val="D5DDEA"/>
                </a:solidFill>
              </a:defRPr>
            </a:pPr>
            <a:r>
              <a:t>macOS:  curl 不读系统代理（除非环境变量）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1600200"/>
            <a:ext cx="411480" cy="508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394960" cy="2331720"/>
          </a:xfrm>
          <a:prstGeom prst="roundRect">
            <a:avLst>
              <a:gd name="adj" fmla="val 6000"/>
            </a:avLst>
          </a:prstGeom>
          <a:solidFill>
            <a:srgbClr val="162C4E">
              <a:alpha val="90000"/>
            </a:srgbClr>
          </a:solidFill>
          <a:ln w="12700">
            <a:solidFill>
              <a:srgbClr val="2A44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74320" rIns="164592" rtlCol="0" anchor="ctr"/>
          <a:lstStyle/>
          <a:p>
            <a:pPr algn="ctr">
              <a:defRPr sz="1400" b="1">
                <a:solidFill>
                  <a:srgbClr val="F2D57E"/>
                </a:solidFill>
              </a:defRPr>
            </a:pPr>
            <a:r>
              <a:t>方案 A：显式代理（推荐）</a:t>
            </a:r>
          </a:p>
          <a:p>
            <a:pPr>
              <a:spcBef>
                <a:spcPts val="250"/>
              </a:spcBef>
              <a:defRPr sz="1200">
                <a:solidFill>
                  <a:srgbClr val="9FE8E4"/>
                </a:solidFill>
                <a:latin typeface="Courier New"/>
              </a:defRPr>
            </a:pPr>
            <a:r>
              <a:t>fetcher/__init__.py 新增 get_http_proxy()</a:t>
            </a:r>
          </a:p>
          <a:p>
            <a:pPr>
              <a:spcBef>
                <a:spcPts val="250"/>
              </a:spcBef>
              <a:defRPr sz="1200">
                <a:solidFill>
                  <a:srgbClr val="9FE8E4"/>
                </a:solidFill>
                <a:latin typeface="Courier New"/>
              </a:defRPr>
            </a:pPr>
            <a:r>
              <a:t>3 处 httpx.Client(proxy=...) 接入</a:t>
            </a:r>
          </a:p>
          <a:p>
            <a:pPr>
              <a:spcBef>
                <a:spcPts val="250"/>
              </a:spcBef>
              <a:defRPr sz="1200">
                <a:solidFill>
                  <a:srgbClr val="D5DDEA"/>
                </a:solidFill>
              </a:defRPr>
            </a:pPr>
            <a:r>
              <a:t>google_patents / web_fetcher / pdf</a:t>
            </a:r>
          </a:p>
          <a:p>
            <a:pPr>
              <a:spcBef>
                <a:spcPts val="250"/>
              </a:spcBef>
              <a:defRPr sz="1200">
                <a:solidFill>
                  <a:srgbClr val="D5DDEA"/>
                </a:solidFill>
              </a:defRPr>
            </a:pPr>
            <a:r>
              <a:t>.env 填 HTTPS_PROXY=http://127.0.0.1:7890</a:t>
            </a:r>
          </a:p>
          <a:p>
            <a:pPr>
              <a:spcBef>
                <a:spcPts val="250"/>
              </a:spcBef>
              <a:defRPr sz="1200">
                <a:solidFill>
                  <a:srgbClr val="D5DDEA"/>
                </a:solidFill>
              </a:defRPr>
            </a:pPr>
            <a:r>
              <a:t>直连恢复，3.8s 抓完专利页（实测）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37960" y="1600200"/>
            <a:ext cx="411480" cy="50800"/>
          </a:xfrm>
          <a:prstGeom prst="rect">
            <a:avLst/>
          </a:prstGeom>
          <a:solidFill>
            <a:srgbClr val="35C4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40080" y="3931920"/>
            <a:ext cx="5394960" cy="2194560"/>
          </a:xfrm>
          <a:prstGeom prst="roundRect">
            <a:avLst>
              <a:gd name="adj" fmla="val 6000"/>
            </a:avLst>
          </a:prstGeom>
          <a:solidFill>
            <a:srgbClr val="162C4E">
              <a:alpha val="90000"/>
            </a:srgbClr>
          </a:solidFill>
          <a:ln w="12700">
            <a:solidFill>
              <a:srgbClr val="2A44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74320" rIns="164592" rtlCol="0" anchor="ctr"/>
          <a:lstStyle/>
          <a:p>
            <a:pPr algn="ctr">
              <a:defRPr sz="1400" b="1">
                <a:solidFill>
                  <a:srgbClr val="F2D57E"/>
                </a:solidFill>
              </a:defRPr>
            </a:pPr>
            <a:r>
              <a:t>方案 B：Tavily 兜底</a:t>
            </a:r>
          </a:p>
          <a:p>
            <a:pPr>
              <a:spcBef>
                <a:spcPts val="250"/>
              </a:spcBef>
              <a:defRPr sz="1200">
                <a:solidFill>
                  <a:srgbClr val="9FE8E4"/>
                </a:solidFill>
                <a:latin typeface="Courier New"/>
              </a:defRPr>
            </a:pPr>
            <a:r>
              <a:t>PATENTRADAR_GOOGLE_FETCH_MODE=auto</a:t>
            </a:r>
          </a:p>
          <a:p>
            <a:pPr>
              <a:spcBef>
                <a:spcPts val="250"/>
              </a:spcBef>
              <a:defRPr sz="1200">
                <a:solidFill>
                  <a:srgbClr val="D5DDEA"/>
                </a:solidFill>
              </a:defRPr>
            </a:pPr>
            <a:r>
              <a:t>直连失败 → 自动调 Tavily /extract</a:t>
            </a:r>
          </a:p>
          <a:p>
            <a:pPr>
              <a:spcBef>
                <a:spcPts val="250"/>
              </a:spcBef>
              <a:defRPr sz="1200">
                <a:solidFill>
                  <a:srgbClr val="D5DDEA"/>
                </a:solidFill>
              </a:defRPr>
            </a:pPr>
            <a:r>
              <a:t>Tavily 服务器可访问 Google Patents</a:t>
            </a:r>
          </a:p>
          <a:p>
            <a:pPr>
              <a:spcBef>
                <a:spcPts val="250"/>
              </a:spcBef>
              <a:defRPr sz="1200">
                <a:solidFill>
                  <a:srgbClr val="D5DDEA"/>
                </a:solidFill>
              </a:defRPr>
            </a:pPr>
            <a:r>
              <a:t>解析 markdown 中的 Claims / 著录项</a:t>
            </a:r>
          </a:p>
          <a:p>
            <a:pPr>
              <a:spcBef>
                <a:spcPts val="250"/>
              </a:spcBef>
              <a:defRPr sz="1200">
                <a:solidFill>
                  <a:srgbClr val="D5DDEA"/>
                </a:solidFill>
              </a:defRPr>
            </a:pPr>
            <a:r>
              <a:t>注意：Tavily 有额度，需充值或新 key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8680" y="4114800"/>
            <a:ext cx="411480" cy="508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309360" y="3931920"/>
            <a:ext cx="5394960" cy="2194560"/>
          </a:xfrm>
          <a:prstGeom prst="roundRect">
            <a:avLst>
              <a:gd name="adj" fmla="val 6000"/>
            </a:avLst>
          </a:prstGeom>
          <a:solidFill>
            <a:srgbClr val="162C4E">
              <a:alpha val="90000"/>
            </a:srgbClr>
          </a:solidFill>
          <a:ln w="12700">
            <a:solidFill>
              <a:srgbClr val="2A44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74320" rIns="164592" rtlCol="0" anchor="ctr"/>
          <a:lstStyle/>
          <a:p>
            <a:pPr algn="ctr">
              <a:defRPr sz="1400" b="1">
                <a:solidFill>
                  <a:srgbClr val="F2D57E"/>
                </a:solidFill>
              </a:defRPr>
            </a:pPr>
            <a:r>
              <a:t>补充：PDF 补全 claims</a:t>
            </a:r>
          </a:p>
          <a:p>
            <a:pPr>
              <a:spcBef>
                <a:spcPts val="250"/>
              </a:spcBef>
              <a:defRPr sz="1200">
                <a:solidFill>
                  <a:srgbClr val="D5DDEA"/>
                </a:solidFill>
              </a:defRPr>
            </a:pPr>
            <a:r>
              <a:t>Tavily 爬虫只拿到前几条 claims（懒加载）</a:t>
            </a:r>
          </a:p>
          <a:p>
            <a:pPr>
              <a:spcBef>
                <a:spcPts val="250"/>
              </a:spcBef>
              <a:defRPr sz="1200">
                <a:solidFill>
                  <a:srgbClr val="D5DDEA"/>
                </a:solidFill>
              </a:defRPr>
            </a:pPr>
            <a:r>
              <a:t>官方 PDF（patentimages CDN）直连补全</a:t>
            </a:r>
          </a:p>
          <a:p>
            <a:pPr>
              <a:spcBef>
                <a:spcPts val="250"/>
              </a:spcBef>
              <a:defRPr sz="1200">
                <a:solidFill>
                  <a:srgbClr val="D5DDEA"/>
                </a:solidFill>
              </a:defRPr>
            </a:pPr>
            <a:r>
              <a:t>PyMuPDF 解析 + 坐标过滤页眉页脚</a:t>
            </a:r>
          </a:p>
          <a:p>
            <a:pPr>
              <a:spcBef>
                <a:spcPts val="250"/>
              </a:spcBef>
              <a:defRPr sz="1200">
                <a:solidFill>
                  <a:srgbClr val="D5DDEA"/>
                </a:solidFill>
              </a:defRPr>
            </a:pPr>
            <a:r>
              <a:t>11 → 12 条 claims 完整（实测）</a:t>
            </a:r>
          </a:p>
          <a:p>
            <a:pPr>
              <a:spcBef>
                <a:spcPts val="250"/>
              </a:spcBef>
              <a:defRPr sz="1200">
                <a:solidFill>
                  <a:srgbClr val="D5DDEA"/>
                </a:solidFill>
              </a:defRPr>
            </a:pPr>
            <a:r>
              <a:t>代码: google_patents._parse_pdf_claims()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37960" y="4114800"/>
            <a:ext cx="411480" cy="50800"/>
          </a:xfrm>
          <a:prstGeom prst="rect">
            <a:avLst/>
          </a:prstGeom>
          <a:solidFill>
            <a:srgbClr val="35C4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AA8C0"/>
                </a:solidFill>
              </a:defRPr>
            </a:pPr>
            <a:r>
              <a:t>PatentRadar 本地部署指南 · 05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oas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240">
              <a:alpha val="5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457200"/>
            <a:ext cx="76200" cy="64008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365760"/>
            <a:ext cx="10058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踩坑与解决 · ② LLM / 搜索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457200"/>
            <a:ext cx="914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200" b="1">
                <a:solidFill>
                  <a:srgbClr val="D4AF37"/>
                </a:solidFill>
              </a:defRPr>
            </a:pPr>
            <a:r>
              <a:t>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17320"/>
            <a:ext cx="5394960" cy="2331720"/>
          </a:xfrm>
          <a:prstGeom prst="roundRect">
            <a:avLst>
              <a:gd name="adj" fmla="val 6000"/>
            </a:avLst>
          </a:prstGeom>
          <a:solidFill>
            <a:srgbClr val="162C4E">
              <a:alpha val="90000"/>
            </a:srgbClr>
          </a:solidFill>
          <a:ln w="12700">
            <a:solidFill>
              <a:srgbClr val="2A44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74320" rIns="164592" rtlCol="0" anchor="ctr"/>
          <a:lstStyle/>
          <a:p>
            <a:pPr algn="ctr">
              <a:defRPr sz="1400" b="1">
                <a:solidFill>
                  <a:srgbClr val="F2D57E"/>
                </a:solidFill>
              </a:defRPr>
            </a:pPr>
            <a:r>
              <a:t>LLM 长输出截断（重要）</a:t>
            </a:r>
          </a:p>
          <a:p>
            <a:pPr>
              <a:spcBef>
                <a:spcPts val="250"/>
              </a:spcBef>
              <a:defRPr sz="1200">
                <a:solidFill>
                  <a:srgbClr val="D5DDEA"/>
                </a:solidFill>
              </a:defRPr>
            </a:pPr>
            <a:r>
              <a:t>现象: JSONDecodeError: Unterminated string</a:t>
            </a:r>
          </a:p>
          <a:p>
            <a:pPr>
              <a:spcBef>
                <a:spcPts val="250"/>
              </a:spcBef>
              <a:defRPr sz="1200">
                <a:solidFill>
                  <a:srgbClr val="D5DDEA"/>
                </a:solidFill>
              </a:defRPr>
            </a:pPr>
            <a:r>
              <a:t>原因: DeepSeek 默认 max_tokens=4096</a:t>
            </a:r>
          </a:p>
          <a:p>
            <a:pPr>
              <a:spcBef>
                <a:spcPts val="250"/>
              </a:spcBef>
              <a:defRPr sz="1200">
                <a:solidFill>
                  <a:srgbClr val="D5DDEA"/>
                </a:solidFill>
              </a:defRPr>
            </a:pPr>
            <a:r>
              <a:t>大拆解 JSON 被截断 → 整件失败</a:t>
            </a:r>
          </a:p>
          <a:p>
            <a:pPr>
              <a:spcBef>
                <a:spcPts val="250"/>
              </a:spcBef>
              <a:defRPr sz="1200">
                <a:solidFill>
                  <a:srgbClr val="9FE8E4"/>
                </a:solidFill>
                <a:latin typeface="Courier New"/>
              </a:defRPr>
            </a:pPr>
            <a:r>
              <a:t>解决: PATENTRADAR_MAX_OUTPUT_TOKENS=32768</a:t>
            </a:r>
          </a:p>
          <a:p>
            <a:pPr>
              <a:spcBef>
                <a:spcPts val="250"/>
              </a:spcBef>
              <a:defRPr sz="1200">
                <a:solidFill>
                  <a:srgbClr val="D5DDEA"/>
                </a:solidFill>
              </a:defRPr>
            </a:pPr>
            <a:r>
              <a:t>100 claims 专利拆解实测通过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1600200"/>
            <a:ext cx="411480" cy="50800"/>
          </a:xfrm>
          <a:prstGeom prst="rect">
            <a:avLst/>
          </a:prstGeom>
          <a:solidFill>
            <a:srgbClr val="35C4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394960" cy="2331720"/>
          </a:xfrm>
          <a:prstGeom prst="roundRect">
            <a:avLst>
              <a:gd name="adj" fmla="val 6000"/>
            </a:avLst>
          </a:prstGeom>
          <a:solidFill>
            <a:srgbClr val="162C4E">
              <a:alpha val="90000"/>
            </a:srgbClr>
          </a:solidFill>
          <a:ln w="12700">
            <a:solidFill>
              <a:srgbClr val="2A44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74320" rIns="164592" rtlCol="0" anchor="ctr"/>
          <a:lstStyle/>
          <a:p>
            <a:pPr algn="ctr">
              <a:defRPr sz="1400" b="1">
                <a:solidFill>
                  <a:srgbClr val="F2D57E"/>
                </a:solidFill>
              </a:defRPr>
            </a:pPr>
            <a:r>
              <a:t>搜索 API 额度耗尽</a:t>
            </a:r>
          </a:p>
          <a:p>
            <a:pPr>
              <a:spcBef>
                <a:spcPts val="250"/>
              </a:spcBef>
              <a:defRPr sz="1200">
                <a:solidFill>
                  <a:srgbClr val="D5DDEA"/>
                </a:solidFill>
              </a:defRPr>
            </a:pPr>
            <a:r>
              <a:t>现象: Tavily 432 / Bocha 403</a:t>
            </a:r>
          </a:p>
          <a:p>
            <a:pPr>
              <a:spcBef>
                <a:spcPts val="250"/>
              </a:spcBef>
              <a:defRPr sz="1200">
                <a:solidFill>
                  <a:srgbClr val="D5DDEA"/>
                </a:solidFill>
              </a:defRPr>
            </a:pPr>
            <a:r>
              <a:t>解决: 配额耗尽冷却 1h（available=False）</a:t>
            </a:r>
          </a:p>
          <a:p>
            <a:pPr>
              <a:spcBef>
                <a:spcPts val="250"/>
              </a:spcBef>
              <a:defRPr sz="1200">
                <a:solidFill>
                  <a:srgbClr val="D5DDEA"/>
                </a:solidFill>
              </a:defRPr>
            </a:pPr>
            <a:r>
              <a:t>router 自动跳过不可用 provider</a:t>
            </a:r>
          </a:p>
          <a:p>
            <a:pPr>
              <a:spcBef>
                <a:spcPts val="250"/>
              </a:spcBef>
              <a:defRPr sz="1200">
                <a:solidFill>
                  <a:srgbClr val="D5DDEA"/>
                </a:solidFill>
              </a:defRPr>
            </a:pPr>
            <a:r>
              <a:t>换新 key 自动恢复（无需重启）</a:t>
            </a:r>
          </a:p>
          <a:p>
            <a:pPr>
              <a:spcBef>
                <a:spcPts val="250"/>
              </a:spcBef>
              <a:defRPr sz="1200">
                <a:solidFill>
                  <a:srgbClr val="9FE8E4"/>
                </a:solidFill>
                <a:latin typeface="Courier New"/>
              </a:defRPr>
            </a:pPr>
            <a:r>
              <a:t>代码: search/tavily.py _quota_blocked_until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37960" y="1600200"/>
            <a:ext cx="411480" cy="50800"/>
          </a:xfrm>
          <a:prstGeom prst="rect">
            <a:avLst/>
          </a:prstGeom>
          <a:solidFill>
            <a:srgbClr val="35C4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40080" y="3931920"/>
            <a:ext cx="5394960" cy="2194560"/>
          </a:xfrm>
          <a:prstGeom prst="roundRect">
            <a:avLst>
              <a:gd name="adj" fmla="val 6000"/>
            </a:avLst>
          </a:prstGeom>
          <a:solidFill>
            <a:srgbClr val="162C4E">
              <a:alpha val="90000"/>
            </a:srgbClr>
          </a:solidFill>
          <a:ln w="12700">
            <a:solidFill>
              <a:srgbClr val="2A44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74320" rIns="164592" rtlCol="0" anchor="ctr"/>
          <a:lstStyle/>
          <a:p>
            <a:pPr algn="ctr">
              <a:defRPr sz="1400" b="1">
                <a:solidFill>
                  <a:srgbClr val="F2D57E"/>
                </a:solidFill>
              </a:defRPr>
            </a:pPr>
            <a:r>
              <a:t>重复搜索浪费额度</a:t>
            </a:r>
          </a:p>
          <a:p>
            <a:pPr>
              <a:spcBef>
                <a:spcPts val="250"/>
              </a:spcBef>
              <a:defRPr sz="1200">
                <a:solidFill>
                  <a:srgbClr val="D5DDEA"/>
                </a:solidFill>
              </a:defRPr>
            </a:pPr>
            <a:r>
              <a:t>失败重试会重跑全部 query</a:t>
            </a:r>
          </a:p>
          <a:p>
            <a:pPr>
              <a:spcBef>
                <a:spcPts val="250"/>
              </a:spcBef>
              <a:defRPr sz="1200">
                <a:solidFill>
                  <a:srgbClr val="9FE8E4"/>
                </a:solidFill>
                <a:latin typeface="Courier New"/>
              </a:defRPr>
            </a:pPr>
            <a:r>
              <a:t>解决: search/cache.py 磁盘缓存（7 天）</a:t>
            </a:r>
          </a:p>
          <a:p>
            <a:pPr>
              <a:spcBef>
                <a:spcPts val="250"/>
              </a:spcBef>
              <a:defRPr sz="1200">
                <a:solidFill>
                  <a:srgbClr val="D5DDEA"/>
                </a:solidFill>
              </a:defRPr>
            </a:pPr>
            <a:r>
              <a:t>key = provider+query+max_results</a:t>
            </a:r>
          </a:p>
          <a:p>
            <a:pPr>
              <a:spcBef>
                <a:spcPts val="250"/>
              </a:spcBef>
              <a:defRPr sz="1200">
                <a:solidFill>
                  <a:srgbClr val="D5DDEA"/>
                </a:solidFill>
              </a:defRPr>
            </a:pPr>
            <a:r>
              <a:t>重试 / 相似 query 直接命中 → 零消耗</a:t>
            </a:r>
          </a:p>
          <a:p>
            <a:pPr>
              <a:spcBef>
                <a:spcPts val="250"/>
              </a:spcBef>
              <a:defRPr sz="1200">
                <a:solidFill>
                  <a:srgbClr val="D5DDEA"/>
                </a:solidFill>
              </a:defRPr>
            </a:pPr>
            <a:r>
              <a:t>Bocha / Tavily 双 provider 接入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8680" y="4114800"/>
            <a:ext cx="411480" cy="508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309360" y="3931920"/>
            <a:ext cx="5394960" cy="2194560"/>
          </a:xfrm>
          <a:prstGeom prst="roundRect">
            <a:avLst>
              <a:gd name="adj" fmla="val 6000"/>
            </a:avLst>
          </a:prstGeom>
          <a:solidFill>
            <a:srgbClr val="162C4E">
              <a:alpha val="90000"/>
            </a:srgbClr>
          </a:solidFill>
          <a:ln w="12700">
            <a:solidFill>
              <a:srgbClr val="2A44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74320" rIns="164592" rtlCol="0" anchor="ctr"/>
          <a:lstStyle/>
          <a:p>
            <a:pPr algn="ctr">
              <a:defRPr sz="1400" b="1">
                <a:solidFill>
                  <a:srgbClr val="F2D57E"/>
                </a:solidFill>
              </a:defRPr>
            </a:pPr>
            <a:r>
              <a:t>查询量过大</a:t>
            </a:r>
          </a:p>
          <a:p>
            <a:pPr>
              <a:spcBef>
                <a:spcPts val="250"/>
              </a:spcBef>
              <a:defRPr sz="1200">
                <a:solidFill>
                  <a:srgbClr val="D5DDEA"/>
                </a:solidFill>
              </a:defRPr>
            </a:pPr>
            <a:r>
              <a:t>原 query 计划 30-50 条/件</a:t>
            </a:r>
          </a:p>
          <a:p>
            <a:pPr>
              <a:spcBef>
                <a:spcPts val="250"/>
              </a:spcBef>
              <a:defRPr sz="1200">
                <a:solidFill>
                  <a:srgbClr val="9FE8E4"/>
                </a:solidFill>
                <a:latin typeface="Courier New"/>
              </a:defRPr>
            </a:pPr>
            <a:r>
              <a:t>解决: 目标 12-20（prompt+schema）</a:t>
            </a:r>
          </a:p>
          <a:p>
            <a:pPr>
              <a:spcBef>
                <a:spcPts val="250"/>
              </a:spcBef>
              <a:defRPr sz="1200">
                <a:solidFill>
                  <a:srgbClr val="D5DDEA"/>
                </a:solidFill>
              </a:defRPr>
            </a:pPr>
            <a:r>
              <a:t>LLM 超发 &gt;20 条 → 自动截断前 20</a:t>
            </a:r>
          </a:p>
          <a:p>
            <a:pPr>
              <a:spcBef>
                <a:spcPts val="250"/>
              </a:spcBef>
              <a:defRPr sz="1200">
                <a:solidFill>
                  <a:srgbClr val="D5DDEA"/>
                </a:solidFill>
              </a:defRPr>
            </a:pPr>
            <a:r>
              <a:t>中文 query 优先 Bocha，英文补 Bocha</a:t>
            </a:r>
          </a:p>
          <a:p>
            <a:pPr>
              <a:spcBef>
                <a:spcPts val="250"/>
              </a:spcBef>
              <a:defRPr sz="1200">
                <a:solidFill>
                  <a:srgbClr val="D5DDEA"/>
                </a:solidFill>
              </a:defRPr>
            </a:pPr>
            <a:r>
              <a:t>搜索成本降至约 1/4（实测）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37960" y="4114800"/>
            <a:ext cx="411480" cy="50800"/>
          </a:xfrm>
          <a:prstGeom prst="rect">
            <a:avLst/>
          </a:prstGeom>
          <a:solidFill>
            <a:srgbClr val="35C4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AA8C0"/>
                </a:solidFill>
              </a:defRPr>
            </a:pPr>
            <a:r>
              <a:t>PatentRadar 本地部署指南 · 06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ountai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240">
              <a:alpha val="5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457200"/>
            <a:ext cx="76200" cy="64008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365760"/>
            <a:ext cx="10058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启动与验证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457200"/>
            <a:ext cx="914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200" b="1">
                <a:solidFill>
                  <a:srgbClr val="D4AF37"/>
                </a:solidFill>
              </a:defRPr>
            </a:pPr>
            <a:r>
              <a:t>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17320"/>
            <a:ext cx="5394960" cy="2331720"/>
          </a:xfrm>
          <a:prstGeom prst="roundRect">
            <a:avLst>
              <a:gd name="adj" fmla="val 6000"/>
            </a:avLst>
          </a:prstGeom>
          <a:solidFill>
            <a:srgbClr val="162C4E">
              <a:alpha val="90000"/>
            </a:srgbClr>
          </a:solidFill>
          <a:ln w="12700">
            <a:solidFill>
              <a:srgbClr val="2A44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74320" rIns="164592" rtlCol="0" anchor="ctr"/>
          <a:lstStyle/>
          <a:p>
            <a:pPr algn="ctr">
              <a:defRPr sz="1400" b="1">
                <a:solidFill>
                  <a:srgbClr val="F2D57E"/>
                </a:solidFill>
              </a:defRPr>
            </a:pPr>
            <a:r>
              <a:t>启动服务</a:t>
            </a:r>
          </a:p>
          <a:p>
            <a:pPr>
              <a:spcBef>
                <a:spcPts val="250"/>
              </a:spcBef>
              <a:defRPr sz="1200">
                <a:solidFill>
                  <a:srgbClr val="9FE8E4"/>
                </a:solidFill>
                <a:latin typeface="Courier New"/>
              </a:defRPr>
            </a:pPr>
            <a:r>
              <a:t>uv run uvicorn patentradar.server.app:app --reload --port 8000</a:t>
            </a:r>
          </a:p>
          <a:p>
            <a:pPr>
              <a:spcBef>
                <a:spcPts val="250"/>
              </a:spcBef>
              <a:defRPr sz="1200">
                <a:solidFill>
                  <a:srgbClr val="D5DDEA"/>
                </a:solidFill>
              </a:defRPr>
            </a:pPr>
            <a:r>
              <a:t>后台运行: nohup … &amp; 或 Docker</a:t>
            </a:r>
          </a:p>
          <a:p>
            <a:pPr>
              <a:spcBef>
                <a:spcPts val="250"/>
              </a:spcBef>
              <a:defRPr sz="1200">
                <a:solidFill>
                  <a:srgbClr val="D5DDEA"/>
                </a:solidFill>
              </a:defRPr>
            </a:pPr>
            <a:r>
              <a:t>日志: logs/&lt;PUB&gt;/run.jsonl</a:t>
            </a:r>
          </a:p>
          <a:p>
            <a:pPr>
              <a:spcBef>
                <a:spcPts val="250"/>
              </a:spcBef>
              <a:defRPr sz="1200">
                <a:solidFill>
                  <a:srgbClr val="D5DDEA"/>
                </a:solidFill>
              </a:defRPr>
            </a:pPr>
            <a:r>
              <a:t>改动 src 后加 --reload 自动重载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1600200"/>
            <a:ext cx="411480" cy="508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394960" cy="2331720"/>
          </a:xfrm>
          <a:prstGeom prst="roundRect">
            <a:avLst>
              <a:gd name="adj" fmla="val 6000"/>
            </a:avLst>
          </a:prstGeom>
          <a:solidFill>
            <a:srgbClr val="162C4E">
              <a:alpha val="90000"/>
            </a:srgbClr>
          </a:solidFill>
          <a:ln w="12700">
            <a:solidFill>
              <a:srgbClr val="2A44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74320" rIns="164592" rtlCol="0" anchor="ctr"/>
          <a:lstStyle/>
          <a:p>
            <a:pPr algn="ctr">
              <a:defRPr sz="1400" b="1">
                <a:solidFill>
                  <a:srgbClr val="F2D57E"/>
                </a:solidFill>
              </a:defRPr>
            </a:pPr>
            <a:r>
              <a:t>跑一篇专利</a:t>
            </a:r>
          </a:p>
          <a:p>
            <a:pPr>
              <a:spcBef>
                <a:spcPts val="250"/>
              </a:spcBef>
              <a:defRPr sz="1200">
                <a:solidFill>
                  <a:srgbClr val="D5DDEA"/>
                </a:solidFill>
              </a:defRPr>
            </a:pPr>
            <a:r>
              <a:t>Web: 输入 CN110293961B → 开始分析</a:t>
            </a:r>
          </a:p>
          <a:p>
            <a:pPr>
              <a:spcBef>
                <a:spcPts val="250"/>
              </a:spcBef>
              <a:defRPr sz="1200">
                <a:solidFill>
                  <a:srgbClr val="9FE8E4"/>
                </a:solidFill>
                <a:latin typeface="Courier New"/>
              </a:defRPr>
            </a:pPr>
            <a:r>
              <a:t>CLI: uv run patentradar decompose CN110293961B</a:t>
            </a:r>
          </a:p>
          <a:p>
            <a:pPr>
              <a:spcBef>
                <a:spcPts val="250"/>
              </a:spcBef>
              <a:defRPr sz="1200">
                <a:solidFill>
                  <a:srgbClr val="9FE8E4"/>
                </a:solidFill>
                <a:latin typeface="Courier New"/>
              </a:defRPr>
            </a:pPr>
            <a:r>
              <a:t>API: curl -X POST localhost:8000/api/run/CN110293961B</a:t>
            </a:r>
          </a:p>
          <a:p>
            <a:pPr>
              <a:spcBef>
                <a:spcPts val="250"/>
              </a:spcBef>
              <a:defRPr sz="1200">
                <a:solidFill>
                  <a:srgbClr val="D5DDEA"/>
                </a:solidFill>
              </a:defRPr>
            </a:pPr>
            <a:r>
              <a:t>完整 4 模块约 25-30 分钟/件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37960" y="1600200"/>
            <a:ext cx="411480" cy="50800"/>
          </a:xfrm>
          <a:prstGeom prst="rect">
            <a:avLst/>
          </a:prstGeom>
          <a:solidFill>
            <a:srgbClr val="35C4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40080" y="3931920"/>
            <a:ext cx="5394960" cy="2194560"/>
          </a:xfrm>
          <a:prstGeom prst="roundRect">
            <a:avLst>
              <a:gd name="adj" fmla="val 6000"/>
            </a:avLst>
          </a:prstGeom>
          <a:solidFill>
            <a:srgbClr val="162C4E">
              <a:alpha val="90000"/>
            </a:srgbClr>
          </a:solidFill>
          <a:ln w="12700">
            <a:solidFill>
              <a:srgbClr val="2A44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74320" rIns="164592" rtlCol="0" anchor="ctr"/>
          <a:lstStyle/>
          <a:p>
            <a:pPr algn="ctr">
              <a:defRPr sz="1400" b="1">
                <a:solidFill>
                  <a:srgbClr val="F2D57E"/>
                </a:solidFill>
              </a:defRPr>
            </a:pPr>
            <a:r>
              <a:t>产物与日志</a:t>
            </a:r>
          </a:p>
          <a:p>
            <a:pPr>
              <a:spcBef>
                <a:spcPts val="250"/>
              </a:spcBef>
              <a:defRPr sz="1200">
                <a:solidFill>
                  <a:srgbClr val="D5DDEA"/>
                </a:solidFill>
              </a:defRPr>
            </a:pPr>
            <a:r>
              <a:t>data/output/&lt;PUB&gt;/task_package.json</a:t>
            </a:r>
          </a:p>
          <a:p>
            <a:pPr>
              <a:spcBef>
                <a:spcPts val="250"/>
              </a:spcBef>
              <a:defRPr sz="1200">
                <a:solidFill>
                  <a:srgbClr val="D5DDEA"/>
                </a:solidFill>
              </a:defRPr>
            </a:pPr>
            <a:r>
              <a:t>step5_top5_claim1_candidates.json</a:t>
            </a:r>
          </a:p>
          <a:p>
            <a:pPr>
              <a:spcBef>
                <a:spcPts val="250"/>
              </a:spcBef>
              <a:defRPr sz="1200">
                <a:solidFill>
                  <a:srgbClr val="D5DDEA"/>
                </a:solidFill>
              </a:defRPr>
            </a:pPr>
            <a:r>
              <a:t>top5_full_claim_chart.json</a:t>
            </a:r>
          </a:p>
          <a:p>
            <a:pPr>
              <a:spcBef>
                <a:spcPts val="250"/>
              </a:spcBef>
              <a:defRPr sz="1200">
                <a:solidFill>
                  <a:srgbClr val="D5DDEA"/>
                </a:solidFill>
              </a:defRPr>
            </a:pPr>
            <a:r>
              <a:t>report.md + report.pdf（最终报告）</a:t>
            </a:r>
          </a:p>
          <a:p>
            <a:pPr>
              <a:spcBef>
                <a:spcPts val="250"/>
              </a:spcBef>
              <a:defRPr sz="1200">
                <a:solidFill>
                  <a:srgbClr val="D5DDEA"/>
                </a:solidFill>
              </a:defRPr>
            </a:pPr>
            <a:r>
              <a:t>logs/&lt;PUB&gt;/module_N.log（逐模块）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8680" y="4114800"/>
            <a:ext cx="411480" cy="508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309360" y="3931920"/>
            <a:ext cx="5394960" cy="2194560"/>
          </a:xfrm>
          <a:prstGeom prst="roundRect">
            <a:avLst>
              <a:gd name="adj" fmla="val 6000"/>
            </a:avLst>
          </a:prstGeom>
          <a:solidFill>
            <a:srgbClr val="162C4E">
              <a:alpha val="90000"/>
            </a:srgbClr>
          </a:solidFill>
          <a:ln w="12700">
            <a:solidFill>
              <a:srgbClr val="2A44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74320" rIns="164592" rtlCol="0" anchor="ctr"/>
          <a:lstStyle/>
          <a:p>
            <a:pPr algn="ctr">
              <a:defRPr sz="1400" b="1">
                <a:solidFill>
                  <a:srgbClr val="F2D57E"/>
                </a:solidFill>
              </a:defRPr>
            </a:pPr>
            <a:r>
              <a:t>Dashboard 能力</a:t>
            </a:r>
          </a:p>
          <a:p>
            <a:pPr>
              <a:spcBef>
                <a:spcPts val="250"/>
              </a:spcBef>
              <a:defRPr sz="1200">
                <a:solidFill>
                  <a:srgbClr val="D5DDEA"/>
                </a:solidFill>
              </a:defRPr>
            </a:pPr>
            <a:r>
              <a:t>4 模块进度实时显示</a:t>
            </a:r>
          </a:p>
          <a:p>
            <a:pPr>
              <a:spcBef>
                <a:spcPts val="250"/>
              </a:spcBef>
              <a:defRPr sz="1200">
                <a:solidFill>
                  <a:srgbClr val="D5DDEA"/>
                </a:solidFill>
              </a:defRPr>
            </a:pPr>
            <a:r>
              <a:t>LLM / 搜索 / 抓取调用明细</a:t>
            </a:r>
          </a:p>
          <a:p>
            <a:pPr>
              <a:spcBef>
                <a:spcPts val="250"/>
              </a:spcBef>
              <a:defRPr sz="1200">
                <a:solidFill>
                  <a:srgbClr val="D5DDEA"/>
                </a:solidFill>
              </a:defRPr>
            </a:pPr>
            <a:r>
              <a:t>跑完回放（1x~600x）</a:t>
            </a:r>
          </a:p>
          <a:p>
            <a:pPr>
              <a:spcBef>
                <a:spcPts val="250"/>
              </a:spcBef>
              <a:defRPr sz="1200">
                <a:solidFill>
                  <a:srgbClr val="D5DDEA"/>
                </a:solidFill>
              </a:defRPr>
            </a:pPr>
            <a:r>
              <a:t>导出离线 HTML 分享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37960" y="4114800"/>
            <a:ext cx="411480" cy="50800"/>
          </a:xfrm>
          <a:prstGeom prst="rect">
            <a:avLst/>
          </a:prstGeom>
          <a:solidFill>
            <a:srgbClr val="35C4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AA8C0"/>
                </a:solidFill>
              </a:defRPr>
            </a:pPr>
            <a:r>
              <a:t>PatentRadar 本地部署指南 · 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ores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240">
              <a:alpha val="5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457200"/>
            <a:ext cx="76200" cy="64008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365760"/>
            <a:ext cx="10058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常见问题 FAQ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457200"/>
            <a:ext cx="914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200" b="1">
                <a:solidFill>
                  <a:srgbClr val="D4AF37"/>
                </a:solidFill>
              </a:defRPr>
            </a:pPr>
            <a:r>
              <a:t>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17320"/>
            <a:ext cx="5394960" cy="2331720"/>
          </a:xfrm>
          <a:prstGeom prst="roundRect">
            <a:avLst>
              <a:gd name="adj" fmla="val 6000"/>
            </a:avLst>
          </a:prstGeom>
          <a:solidFill>
            <a:srgbClr val="162C4E">
              <a:alpha val="90000"/>
            </a:srgbClr>
          </a:solidFill>
          <a:ln w="12700">
            <a:solidFill>
              <a:srgbClr val="2A44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74320" rIns="164592" rtlCol="0" anchor="ctr"/>
          <a:lstStyle/>
          <a:p>
            <a:pPr algn="ctr">
              <a:defRPr sz="1400" b="1">
                <a:solidFill>
                  <a:srgbClr val="F2D57E"/>
                </a:solidFill>
              </a:defRPr>
            </a:pPr>
            <a:r>
              <a:t>Q: 没有 pango 能跑吗？</a:t>
            </a:r>
          </a:p>
          <a:p>
            <a:pPr>
              <a:spcBef>
                <a:spcPts val="250"/>
              </a:spcBef>
              <a:defRPr sz="1200">
                <a:solidFill>
                  <a:srgbClr val="D5DDEA"/>
                </a:solidFill>
              </a:defRPr>
            </a:pPr>
            <a:r>
              <a:t>能。只影响 PDF：缺库 → 只出 report.md</a:t>
            </a:r>
          </a:p>
          <a:p>
            <a:pPr>
              <a:spcBef>
                <a:spcPts val="250"/>
              </a:spcBef>
              <a:defRPr sz="1200">
                <a:solidFill>
                  <a:srgbClr val="D5DDEA"/>
                </a:solidFill>
              </a:defRPr>
            </a:pPr>
            <a:r>
              <a:t>之后装好 pango 重跑 report 模块即可</a:t>
            </a:r>
          </a:p>
          <a:p>
            <a:pPr>
              <a:spcBef>
                <a:spcPts val="250"/>
              </a:spcBef>
              <a:defRPr sz="1200">
                <a:solidFill>
                  <a:srgbClr val="D5DDEA"/>
                </a:solidFill>
              </a:defRPr>
            </a:pPr>
            <a:r>
              <a:t>macOS: brew install pango</a:t>
            </a:r>
          </a:p>
          <a:p>
            <a:pPr>
              <a:spcBef>
                <a:spcPts val="250"/>
              </a:spcBef>
              <a:defRPr sz="1200">
                <a:solidFill>
                  <a:srgbClr val="D5DDEA"/>
                </a:solidFill>
              </a:defRPr>
            </a:pPr>
            <a:r>
              <a:t>无 sudo: micromamba + conda-forge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1600200"/>
            <a:ext cx="411480" cy="508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394960" cy="2331720"/>
          </a:xfrm>
          <a:prstGeom prst="roundRect">
            <a:avLst>
              <a:gd name="adj" fmla="val 6000"/>
            </a:avLst>
          </a:prstGeom>
          <a:solidFill>
            <a:srgbClr val="162C4E">
              <a:alpha val="90000"/>
            </a:srgbClr>
          </a:solidFill>
          <a:ln w="12700">
            <a:solidFill>
              <a:srgbClr val="2A44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74320" rIns="164592" rtlCol="0" anchor="ctr"/>
          <a:lstStyle/>
          <a:p>
            <a:pPr algn="ctr">
              <a:defRPr sz="1400" b="1">
                <a:solidFill>
                  <a:srgbClr val="F2D57E"/>
                </a:solidFill>
              </a:defRPr>
            </a:pPr>
            <a:r>
              <a:t>Q: Google Patents 必须直连吗？</a:t>
            </a:r>
          </a:p>
          <a:p>
            <a:pPr>
              <a:spcBef>
                <a:spcPts val="250"/>
              </a:spcBef>
              <a:defRPr sz="1200">
                <a:solidFill>
                  <a:srgbClr val="D5DDEA"/>
                </a:solidFill>
              </a:defRPr>
            </a:pPr>
            <a:r>
              <a:t>否。auto 模式直连失败自动切 Tavily</a:t>
            </a:r>
          </a:p>
          <a:p>
            <a:pPr>
              <a:spcBef>
                <a:spcPts val="250"/>
              </a:spcBef>
              <a:defRPr sz="1200">
                <a:solidFill>
                  <a:srgbClr val="D5DDEA"/>
                </a:solidFill>
              </a:defRPr>
            </a:pPr>
            <a:r>
              <a:t>也可整体走 Tavily（tavily 模式）</a:t>
            </a:r>
          </a:p>
          <a:p>
            <a:pPr>
              <a:spcBef>
                <a:spcPts val="250"/>
              </a:spcBef>
              <a:defRPr sz="1200">
                <a:solidFill>
                  <a:srgbClr val="D5DDEA"/>
                </a:solidFill>
              </a:defRPr>
            </a:pPr>
            <a:r>
              <a:t>有代理时直连最快（3.8s/页）</a:t>
            </a:r>
          </a:p>
          <a:p>
            <a:pPr>
              <a:spcBef>
                <a:spcPts val="250"/>
              </a:spcBef>
              <a:defRPr sz="1200">
                <a:solidFill>
                  <a:srgbClr val="D5DDEA"/>
                </a:solidFill>
              </a:defRPr>
            </a:pPr>
            <a:r>
              <a:t>代理需保持开启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37960" y="1600200"/>
            <a:ext cx="411480" cy="50800"/>
          </a:xfrm>
          <a:prstGeom prst="rect">
            <a:avLst/>
          </a:prstGeom>
          <a:solidFill>
            <a:srgbClr val="35C4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40080" y="3931920"/>
            <a:ext cx="5394960" cy="2194560"/>
          </a:xfrm>
          <a:prstGeom prst="roundRect">
            <a:avLst>
              <a:gd name="adj" fmla="val 6000"/>
            </a:avLst>
          </a:prstGeom>
          <a:solidFill>
            <a:srgbClr val="162C4E">
              <a:alpha val="90000"/>
            </a:srgbClr>
          </a:solidFill>
          <a:ln w="12700">
            <a:solidFill>
              <a:srgbClr val="2A44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74320" rIns="164592" rtlCol="0" anchor="ctr"/>
          <a:lstStyle/>
          <a:p>
            <a:pPr algn="ctr">
              <a:defRPr sz="1400" b="1">
                <a:solidFill>
                  <a:srgbClr val="F2D57E"/>
                </a:solidFill>
              </a:defRPr>
            </a:pPr>
            <a:r>
              <a:t>Q: 报告分数是什么？</a:t>
            </a:r>
          </a:p>
          <a:p>
            <a:pPr>
              <a:spcBef>
                <a:spcPts val="250"/>
              </a:spcBef>
              <a:defRPr sz="1200">
                <a:solidFill>
                  <a:srgbClr val="D5DDEA"/>
                </a:solidFill>
              </a:defRPr>
            </a:pPr>
            <a:r>
              <a:t>total_score（0-100）：权1各特征证据直接性</a:t>
            </a:r>
          </a:p>
          <a:p>
            <a:pPr>
              <a:spcBef>
                <a:spcPts val="250"/>
              </a:spcBef>
              <a:defRPr sz="1200">
                <a:solidFill>
                  <a:srgbClr val="D5DDEA"/>
                </a:solidFill>
              </a:defRPr>
            </a:pPr>
            <a:r>
              <a:t>≥80 提示疑似侵权可信度高（阈值可改）</a:t>
            </a:r>
          </a:p>
          <a:p>
            <a:pPr>
              <a:spcBef>
                <a:spcPts val="250"/>
              </a:spcBef>
              <a:defRPr sz="1200">
                <a:solidFill>
                  <a:srgbClr val="D5DDEA"/>
                </a:solidFill>
              </a:defRPr>
            </a:pPr>
            <a:r>
              <a:t>明确满足=1.0 / 可能满足 / 证据不足</a:t>
            </a:r>
          </a:p>
          <a:p>
            <a:pPr>
              <a:spcBef>
                <a:spcPts val="250"/>
              </a:spcBef>
              <a:defRPr sz="1200">
                <a:solidFill>
                  <a:srgbClr val="D5DDEA"/>
                </a:solidFill>
              </a:defRPr>
            </a:pPr>
            <a:r>
              <a:t>score 是证据刻度，非法律结论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8680" y="4114800"/>
            <a:ext cx="411480" cy="508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309360" y="3931920"/>
            <a:ext cx="5394960" cy="2194560"/>
          </a:xfrm>
          <a:prstGeom prst="roundRect">
            <a:avLst>
              <a:gd name="adj" fmla="val 6000"/>
            </a:avLst>
          </a:prstGeom>
          <a:solidFill>
            <a:srgbClr val="162C4E">
              <a:alpha val="90000"/>
            </a:srgbClr>
          </a:solidFill>
          <a:ln w="12700">
            <a:solidFill>
              <a:srgbClr val="2A44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74320" rIns="164592" rtlCol="0" anchor="ctr"/>
          <a:lstStyle/>
          <a:p>
            <a:pPr algn="ctr">
              <a:defRPr sz="1400" b="1">
                <a:solidFill>
                  <a:srgbClr val="F2D57E"/>
                </a:solidFill>
              </a:defRPr>
            </a:pPr>
            <a:r>
              <a:t>Q: 可选扩展（本项目定制）</a:t>
            </a:r>
          </a:p>
          <a:p>
            <a:pPr>
              <a:spcBef>
                <a:spcPts val="250"/>
              </a:spcBef>
              <a:defRPr sz="1200">
                <a:solidFill>
                  <a:srgbClr val="D5DDEA"/>
                </a:solidFill>
              </a:defRPr>
            </a:pPr>
            <a:r>
              <a:t>autopilot 命令组：比亚迪专利自动监控</a:t>
            </a:r>
          </a:p>
          <a:p>
            <a:pPr>
              <a:spcBef>
                <a:spcPts val="250"/>
              </a:spcBef>
              <a:defRPr sz="1200">
                <a:solidFill>
                  <a:srgbClr val="D5DDEA"/>
                </a:solidFill>
              </a:defRPr>
            </a:pPr>
            <a:r>
              <a:t>收集 → 批量分析 → ≥80 推送 GitHub</a:t>
            </a:r>
          </a:p>
          <a:p>
            <a:pPr>
              <a:spcBef>
                <a:spcPts val="250"/>
              </a:spcBef>
              <a:defRPr sz="1200">
                <a:solidFill>
                  <a:srgbClr val="9FE8E4"/>
                </a:solidFill>
                <a:latin typeface="Courier New"/>
              </a:defRPr>
            </a:pPr>
            <a:r>
              <a:t>uv run patentradar autopilot --help</a:t>
            </a:r>
          </a:p>
          <a:p>
            <a:pPr>
              <a:spcBef>
                <a:spcPts val="250"/>
              </a:spcBef>
              <a:defRPr sz="1200">
                <a:solidFill>
                  <a:srgbClr val="D5DDEA"/>
                </a:solidFill>
              </a:defRPr>
            </a:pPr>
            <a:r>
              <a:t>与核心流水线完全解耦，可单独启用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37960" y="4114800"/>
            <a:ext cx="411480" cy="50800"/>
          </a:xfrm>
          <a:prstGeom prst="rect">
            <a:avLst/>
          </a:prstGeom>
          <a:solidFill>
            <a:srgbClr val="35C4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AA8C0"/>
                </a:solidFill>
              </a:defRPr>
            </a:pPr>
            <a:r>
              <a:t>PatentRadar 本地部署指南 · 08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ov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240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023360" y="3108960"/>
            <a:ext cx="4114800" cy="254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65176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rPr dirty="0"/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38328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D5DDEA"/>
                </a:solidFill>
              </a:defRPr>
            </a:pPr>
            <a:r>
              <a:t>部署有问题 → 查看 README.md 或本项目 .env.example 注释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93192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2D57E"/>
                </a:solidFill>
              </a:defRPr>
            </a:pPr>
            <a:r>
              <a:t>uv sync  →  填 .env  →  uvicorn :8000  →  开跑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2240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457200"/>
            <a:ext cx="76200" cy="64008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365760"/>
            <a:ext cx="10058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简单方法：DeepSeek Harness 辅助部署</a:t>
            </a:r>
          </a:p>
          <a:p>
            <a:pPr>
              <a:spcBef>
                <a:spcPts val="200"/>
              </a:spcBef>
              <a:defRPr sz="1300">
                <a:solidFill>
                  <a:srgbClr val="F2D57E"/>
                </a:solidFill>
              </a:defRPr>
            </a:pPr>
            <a:r>
              <a:t>不想手动敲命令？让 AI 助手代劳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457200"/>
            <a:ext cx="914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200" b="1">
                <a:solidFill>
                  <a:srgbClr val="D4AF37"/>
                </a:solidFill>
              </a:defRPr>
            </a:pPr>
            <a:r>
              <a:t>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17320"/>
            <a:ext cx="5577840" cy="4754880"/>
          </a:xfrm>
          <a:prstGeom prst="roundRect">
            <a:avLst>
              <a:gd name="adj" fmla="val 6000"/>
            </a:avLst>
          </a:prstGeom>
          <a:solidFill>
            <a:srgbClr val="162C4E">
              <a:alpha val="90000"/>
            </a:srgbClr>
          </a:solidFill>
          <a:ln w="12700">
            <a:solidFill>
              <a:srgbClr val="2A44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64592" tIns="274320"/>
          <a:lstStyle/>
          <a:p>
            <a:pPr algn="ctr">
              <a:defRPr sz="1400" b="1">
                <a:solidFill>
                  <a:srgbClr val="F2D57E"/>
                </a:solidFill>
              </a:defRPr>
            </a:pPr>
            <a:r>
              <a:t>操作步骤（5 步）</a:t>
            </a:r>
          </a:p>
          <a:p>
            <a:pPr>
              <a:spcBef>
                <a:spcPts val="250"/>
              </a:spcBef>
              <a:defRPr sz="1300">
                <a:solidFill>
                  <a:srgbClr val="9FE8E4"/>
                </a:solidFill>
                <a:latin typeface="Courier New"/>
              </a:defRPr>
            </a:pPr>
            <a:r>
              <a:t>① 下载安装 DeepSeek Harness</a:t>
            </a:r>
          </a:p>
          <a:p>
            <a:pPr>
              <a:spcBef>
                <a:spcPts val="250"/>
              </a:spcBef>
              <a:defRPr sz="1300">
                <a:solidFill>
                  <a:srgbClr val="D5DDEA"/>
                </a:solidFill>
              </a:defRPr>
            </a:pPr>
            <a:r>
              <a:t>官网获取安装包，双击安装</a:t>
            </a:r>
          </a:p>
          <a:p>
            <a:pPr>
              <a:spcBef>
                <a:spcPts val="250"/>
              </a:spcBef>
              <a:defRPr sz="1300">
                <a:solidFill>
                  <a:srgbClr val="9FE8E4"/>
                </a:solidFill>
                <a:latin typeface="Courier New"/>
              </a:defRPr>
            </a:pPr>
            <a:r>
              <a:t>② 打开本项目文件夹作为工作区</a:t>
            </a:r>
          </a:p>
          <a:p>
            <a:pPr>
              <a:spcBef>
                <a:spcPts val="250"/>
              </a:spcBef>
              <a:defRPr sz="1300">
                <a:solidFill>
                  <a:srgbClr val="9FE8E4"/>
                </a:solidFill>
                <a:latin typeface="Courier New"/>
              </a:defRPr>
            </a:pPr>
            <a:r>
              <a:t>③ 对 AI 说一句话：</a:t>
            </a:r>
          </a:p>
          <a:p>
            <a:pPr>
              <a:spcBef>
                <a:spcPts val="250"/>
              </a:spcBef>
              <a:defRPr sz="1300">
                <a:solidFill>
                  <a:srgbClr val="9FE8E4"/>
                </a:solidFill>
                <a:latin typeface="Courier New"/>
              </a:defRPr>
            </a:pPr>
            <a:r>
              <a:t>    「帮我把这个项目部署到本机」</a:t>
            </a:r>
          </a:p>
          <a:p>
            <a:pPr>
              <a:spcBef>
                <a:spcPts val="250"/>
              </a:spcBef>
              <a:defRPr sz="1300">
                <a:solidFill>
                  <a:srgbClr val="9FE8E4"/>
                </a:solidFill>
                <a:latin typeface="Courier New"/>
              </a:defRPr>
            </a:pPr>
            <a:r>
              <a:t>④ 提供 API Keys</a:t>
            </a:r>
          </a:p>
          <a:p>
            <a:pPr>
              <a:spcBef>
                <a:spcPts val="250"/>
              </a:spcBef>
              <a:defRPr sz="1300">
                <a:solidFill>
                  <a:srgbClr val="D5DDEA"/>
                </a:solidFill>
              </a:defRPr>
            </a:pPr>
            <a:r>
              <a:t>把 DeepSeek/Bocha 的 key 发给 AI</a:t>
            </a:r>
          </a:p>
          <a:p>
            <a:pPr>
              <a:spcBef>
                <a:spcPts val="250"/>
              </a:spcBef>
              <a:defRPr sz="1300">
                <a:solidFill>
                  <a:srgbClr val="9FE8E4"/>
                </a:solidFill>
                <a:latin typeface="Courier New"/>
              </a:defRPr>
            </a:pPr>
            <a:r>
              <a:t>⑤ 等待完成</a:t>
            </a:r>
          </a:p>
          <a:p>
            <a:pPr>
              <a:spcBef>
                <a:spcPts val="250"/>
              </a:spcBef>
              <a:defRPr sz="1300">
                <a:solidFill>
                  <a:srgbClr val="D5DDEA"/>
                </a:solidFill>
              </a:defRPr>
            </a:pPr>
            <a:r>
              <a:t>AI 自动装依赖 / 配 .env / 起服务 / 验证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1600200"/>
            <a:ext cx="411480" cy="50800"/>
          </a:xfrm>
          <a:prstGeom prst="rect">
            <a:avLst/>
          </a:prstGeom>
          <a:solidFill>
            <a:srgbClr val="35C4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0" y="1417320"/>
            <a:ext cx="5120640" cy="2331720"/>
          </a:xfrm>
          <a:prstGeom prst="roundRect">
            <a:avLst>
              <a:gd name="adj" fmla="val 6000"/>
            </a:avLst>
          </a:prstGeom>
          <a:solidFill>
            <a:srgbClr val="162C4E">
              <a:alpha val="90000"/>
            </a:srgbClr>
          </a:solidFill>
          <a:ln w="12700">
            <a:solidFill>
              <a:srgbClr val="2A44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64592" tIns="274320"/>
          <a:lstStyle/>
          <a:p>
            <a:pPr algn="ctr">
              <a:defRPr sz="1400" b="1">
                <a:solidFill>
                  <a:srgbClr val="F2D57E"/>
                </a:solidFill>
              </a:defRPr>
            </a:pPr>
            <a:r>
              <a:t>AI 会自动处理</a:t>
            </a:r>
          </a:p>
          <a:p>
            <a:pPr>
              <a:spcBef>
                <a:spcPts val="250"/>
              </a:spcBef>
              <a:defRPr sz="1200">
                <a:solidFill>
                  <a:srgbClr val="D5DDEA"/>
                </a:solidFill>
              </a:defRPr>
            </a:pPr>
            <a:r>
              <a:t>安装 uv + Python 3.14 + 全部依赖</a:t>
            </a:r>
          </a:p>
          <a:p>
            <a:pPr>
              <a:spcBef>
                <a:spcPts val="250"/>
              </a:spcBef>
              <a:defRPr sz="1200">
                <a:solidFill>
                  <a:srgbClr val="D5DDEA"/>
                </a:solidFill>
              </a:defRPr>
            </a:pPr>
            <a:r>
              <a:t>安装 pango（PDF 渲染）</a:t>
            </a:r>
          </a:p>
          <a:p>
            <a:pPr>
              <a:spcBef>
                <a:spcPts val="250"/>
              </a:spcBef>
              <a:defRPr sz="1200">
                <a:solidFill>
                  <a:srgbClr val="D5DDEA"/>
                </a:solidFill>
              </a:defRPr>
            </a:pPr>
            <a:r>
              <a:t>填写 .env（你提供 keys）</a:t>
            </a:r>
          </a:p>
          <a:p>
            <a:pPr>
              <a:spcBef>
                <a:spcPts val="250"/>
              </a:spcBef>
              <a:defRPr sz="1200">
                <a:solidFill>
                  <a:srgbClr val="D5DDEA"/>
                </a:solidFill>
              </a:defRPr>
            </a:pPr>
            <a:r>
              <a:t>启动 Web Dashboard 并验证</a:t>
            </a:r>
          </a:p>
          <a:p>
            <a:pPr>
              <a:spcBef>
                <a:spcPts val="250"/>
              </a:spcBef>
              <a:defRPr sz="1200">
                <a:solidFill>
                  <a:srgbClr val="D5DDEA"/>
                </a:solidFill>
              </a:defRPr>
            </a:pPr>
            <a:r>
              <a:t>遇到本指南的坑自动绕开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29400" y="1600200"/>
            <a:ext cx="411480" cy="508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0" y="3931920"/>
            <a:ext cx="5120640" cy="2286000"/>
          </a:xfrm>
          <a:prstGeom prst="roundRect">
            <a:avLst>
              <a:gd name="adj" fmla="val 6000"/>
            </a:avLst>
          </a:prstGeom>
          <a:solidFill>
            <a:srgbClr val="162C4E">
              <a:alpha val="90000"/>
            </a:srgbClr>
          </a:solidFill>
          <a:ln w="12700">
            <a:solidFill>
              <a:srgbClr val="2A44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64592" tIns="274320"/>
          <a:lstStyle/>
          <a:p>
            <a:pPr algn="ctr">
              <a:defRPr sz="1400" b="1">
                <a:solidFill>
                  <a:srgbClr val="F2D57E"/>
                </a:solidFill>
              </a:defRPr>
            </a:pPr>
            <a:r>
              <a:t>对比</a:t>
            </a:r>
          </a:p>
          <a:p>
            <a:pPr>
              <a:spcBef>
                <a:spcPts val="250"/>
              </a:spcBef>
              <a:defRPr sz="1200">
                <a:solidFill>
                  <a:srgbClr val="D5DDEA"/>
                </a:solidFill>
              </a:defRPr>
            </a:pPr>
            <a:r>
              <a:t>手动部署：本指南全部步骤</a:t>
            </a:r>
          </a:p>
          <a:p>
            <a:pPr>
              <a:spcBef>
                <a:spcPts val="250"/>
              </a:spcBef>
              <a:defRPr sz="1200">
                <a:solidFill>
                  <a:srgbClr val="D5DDEA"/>
                </a:solidFill>
              </a:defRPr>
            </a:pPr>
            <a:r>
              <a:t>AI 辅助：只需 3 句话 + keys</a:t>
            </a:r>
          </a:p>
          <a:p>
            <a:pPr>
              <a:spcBef>
                <a:spcPts val="250"/>
              </a:spcBef>
              <a:defRPr sz="1200">
                <a:solidFill>
                  <a:srgbClr val="D5DDEA"/>
                </a:solidFill>
              </a:defRPr>
            </a:pPr>
            <a:r>
              <a:t>适合：不熟悉命令行 / 想快速跑起来</a:t>
            </a:r>
          </a:p>
          <a:p>
            <a:pPr>
              <a:spcBef>
                <a:spcPts val="250"/>
              </a:spcBef>
              <a:defRPr sz="1200">
                <a:solidFill>
                  <a:srgbClr val="D5DDEA"/>
                </a:solidFill>
              </a:defRPr>
            </a:pPr>
            <a:r>
              <a:t>适合：熟悉命令但想省时间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629400" y="4114800"/>
            <a:ext cx="411480" cy="50800"/>
          </a:xfrm>
          <a:prstGeom prst="rect">
            <a:avLst/>
          </a:prstGeom>
          <a:solidFill>
            <a:srgbClr val="35C4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AA8C0"/>
                </a:solidFill>
              </a:defRPr>
            </a:pPr>
            <a:r>
              <a:t>PatentRadar 本地部署指南 · 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1290</Words>
  <Application>Microsoft Macintosh PowerPoint</Application>
  <PresentationFormat>宽屏</PresentationFormat>
  <Paragraphs>211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Microsoft Office User</cp:lastModifiedBy>
  <cp:revision>2</cp:revision>
  <dcterms:created xsi:type="dcterms:W3CDTF">2013-01-27T09:14:16Z</dcterms:created>
  <dcterms:modified xsi:type="dcterms:W3CDTF">2026-08-22T14:52:46Z</dcterms:modified>
  <cp:category/>
</cp:coreProperties>
</file>